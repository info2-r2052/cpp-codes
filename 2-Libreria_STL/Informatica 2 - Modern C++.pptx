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9" r:id="rId3"/>
    <p:sldId id="257" r:id="rId4"/>
    <p:sldId id="261" r:id="rId5"/>
    <p:sldId id="262" r:id="rId6"/>
    <p:sldId id="264" r:id="rId7"/>
    <p:sldId id="268" r:id="rId8"/>
    <p:sldId id="267" r:id="rId9"/>
    <p:sldId id="263" r:id="rId10"/>
    <p:sldId id="265" r:id="rId11"/>
    <p:sldId id="266" r:id="rId12"/>
    <p:sldId id="269" r:id="rId13"/>
  </p:sldIdLst>
  <p:sldSz cx="12192000" cy="6858000"/>
  <p:notesSz cx="7315200" cy="9601200"/>
  <p:defaultTextStyle>
    <a:defPPr>
      <a:defRPr lang="es-U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100" d="100"/>
          <a:sy n="100" d="100"/>
        </p:scale>
        <p:origin x="876" y="5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0599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927943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94037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618F243-A78F-4990-9421-0BC6506A18EC}" type="datetimeFigureOut">
              <a:rPr lang="es-UY" smtClean="0"/>
              <a:t>11/4/2023</a:t>
            </a:fld>
            <a:endParaRPr lang="es-UY"/>
          </a:p>
        </p:txBody>
      </p:sp>
      <p:sp>
        <p:nvSpPr>
          <p:cNvPr id="6" name="Footer Placeholder 5"/>
          <p:cNvSpPr>
            <a:spLocks noGrp="1"/>
          </p:cNvSpPr>
          <p:nvPr>
            <p:ph type="ftr" sz="quarter" idx="11"/>
          </p:nvPr>
        </p:nvSpPr>
        <p:spPr/>
        <p:txBody>
          <a:bodyPr/>
          <a:lstStyle/>
          <a:p>
            <a:endParaRPr lang="es-UY"/>
          </a:p>
        </p:txBody>
      </p:sp>
      <p:sp>
        <p:nvSpPr>
          <p:cNvPr id="7" name="Slide Number Placeholder 6"/>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70085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18F243-A78F-4990-9421-0BC6506A18EC}" type="datetimeFigureOut">
              <a:rPr lang="es-UY" smtClean="0"/>
              <a:t>11/4/2023</a:t>
            </a:fld>
            <a:endParaRPr lang="es-UY"/>
          </a:p>
        </p:txBody>
      </p:sp>
      <p:sp>
        <p:nvSpPr>
          <p:cNvPr id="8" name="Footer Placeholder 7"/>
          <p:cNvSpPr>
            <a:spLocks noGrp="1"/>
          </p:cNvSpPr>
          <p:nvPr>
            <p:ph type="ftr" sz="quarter" idx="11"/>
          </p:nvPr>
        </p:nvSpPr>
        <p:spPr/>
        <p:txBody>
          <a:bodyPr/>
          <a:lstStyle/>
          <a:p>
            <a:endParaRPr lang="es-UY"/>
          </a:p>
        </p:txBody>
      </p:sp>
      <p:sp>
        <p:nvSpPr>
          <p:cNvPr id="9" name="Slide Number Placeholder 8"/>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162369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618F243-A78F-4990-9421-0BC6506A18EC}" type="datetimeFigureOut">
              <a:rPr lang="es-UY" smtClean="0"/>
              <a:t>11/4/2023</a:t>
            </a:fld>
            <a:endParaRPr lang="es-UY"/>
          </a:p>
        </p:txBody>
      </p:sp>
      <p:sp>
        <p:nvSpPr>
          <p:cNvPr id="4" name="Footer Placeholder 3"/>
          <p:cNvSpPr>
            <a:spLocks noGrp="1"/>
          </p:cNvSpPr>
          <p:nvPr>
            <p:ph type="ftr" sz="quarter" idx="11"/>
          </p:nvPr>
        </p:nvSpPr>
        <p:spPr/>
        <p:txBody>
          <a:bodyPr/>
          <a:lstStyle/>
          <a:p>
            <a:endParaRPr lang="es-UY"/>
          </a:p>
        </p:txBody>
      </p:sp>
      <p:sp>
        <p:nvSpPr>
          <p:cNvPr id="5" name="Slide Number Placeholder 4"/>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4061331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18F243-A78F-4990-9421-0BC6506A18EC}" type="datetimeFigureOut">
              <a:rPr lang="es-UY" smtClean="0"/>
              <a:t>11/4/2023</a:t>
            </a:fld>
            <a:endParaRPr lang="es-UY"/>
          </a:p>
        </p:txBody>
      </p:sp>
      <p:sp>
        <p:nvSpPr>
          <p:cNvPr id="3" name="Footer Placeholder 2"/>
          <p:cNvSpPr>
            <a:spLocks noGrp="1"/>
          </p:cNvSpPr>
          <p:nvPr>
            <p:ph type="ftr" sz="quarter" idx="11"/>
          </p:nvPr>
        </p:nvSpPr>
        <p:spPr/>
        <p:txBody>
          <a:bodyPr/>
          <a:lstStyle/>
          <a:p>
            <a:endParaRPr lang="es-UY"/>
          </a:p>
        </p:txBody>
      </p:sp>
      <p:sp>
        <p:nvSpPr>
          <p:cNvPr id="4" name="Slide Number Placeholder 3"/>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2577827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18F243-A78F-4990-9421-0BC6506A18EC}" type="datetimeFigureOut">
              <a:rPr lang="es-UY" smtClean="0"/>
              <a:t>11/4/2023</a:t>
            </a:fld>
            <a:endParaRPr lang="es-UY"/>
          </a:p>
        </p:txBody>
      </p:sp>
      <p:sp>
        <p:nvSpPr>
          <p:cNvPr id="6" name="Footer Placeholder 5"/>
          <p:cNvSpPr>
            <a:spLocks noGrp="1"/>
          </p:cNvSpPr>
          <p:nvPr>
            <p:ph type="ftr" sz="quarter" idx="11"/>
          </p:nvPr>
        </p:nvSpPr>
        <p:spPr/>
        <p:txBody>
          <a:bodyPr/>
          <a:lstStyle/>
          <a:p>
            <a:endParaRPr lang="es-UY"/>
          </a:p>
        </p:txBody>
      </p:sp>
      <p:sp>
        <p:nvSpPr>
          <p:cNvPr id="7" name="Slide Number Placeholder 6"/>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45652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18F243-A78F-4990-9421-0BC6506A18EC}" type="datetimeFigureOut">
              <a:rPr lang="es-UY" smtClean="0"/>
              <a:t>11/4/2023</a:t>
            </a:fld>
            <a:endParaRPr lang="es-UY"/>
          </a:p>
        </p:txBody>
      </p:sp>
      <p:sp>
        <p:nvSpPr>
          <p:cNvPr id="6" name="Footer Placeholder 5"/>
          <p:cNvSpPr>
            <a:spLocks noGrp="1"/>
          </p:cNvSpPr>
          <p:nvPr>
            <p:ph type="ftr" sz="quarter" idx="11"/>
          </p:nvPr>
        </p:nvSpPr>
        <p:spPr/>
        <p:txBody>
          <a:bodyPr/>
          <a:lstStyle/>
          <a:p>
            <a:endParaRPr lang="es-UY"/>
          </a:p>
        </p:txBody>
      </p:sp>
      <p:sp>
        <p:nvSpPr>
          <p:cNvPr id="7" name="Slide Number Placeholder 6"/>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4045022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E618F243-A78F-4990-9421-0BC6506A18EC}" type="datetimeFigureOut">
              <a:rPr lang="es-UY" smtClean="0"/>
              <a:t>11/4/2023</a:t>
            </a:fld>
            <a:endParaRPr lang="es-UY"/>
          </a:p>
        </p:txBody>
      </p:sp>
      <p:sp>
        <p:nvSpPr>
          <p:cNvPr id="4" name="Footer Placeholder 3"/>
          <p:cNvSpPr>
            <a:spLocks noGrp="1"/>
          </p:cNvSpPr>
          <p:nvPr>
            <p:ph type="ftr" sz="quarter" idx="11"/>
          </p:nvPr>
        </p:nvSpPr>
        <p:spPr/>
        <p:txBody>
          <a:bodyPr/>
          <a:lstStyle/>
          <a:p>
            <a:endParaRPr lang="es-UY"/>
          </a:p>
        </p:txBody>
      </p:sp>
      <p:sp>
        <p:nvSpPr>
          <p:cNvPr id="5" name="Slide Number Placeholder 4"/>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9341912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244557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0383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33917470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1599566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701541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753177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618F243-A78F-4990-9421-0BC6506A18EC}" type="datetimeFigureOut">
              <a:rPr lang="es-UY" smtClean="0"/>
              <a:t>11/4/2023</a:t>
            </a:fld>
            <a:endParaRPr lang="es-UY"/>
          </a:p>
        </p:txBody>
      </p:sp>
      <p:sp>
        <p:nvSpPr>
          <p:cNvPr id="5" name="Footer Placeholder 4"/>
          <p:cNvSpPr>
            <a:spLocks noGrp="1"/>
          </p:cNvSpPr>
          <p:nvPr>
            <p:ph type="ftr" sz="quarter" idx="11"/>
          </p:nvPr>
        </p:nvSpPr>
        <p:spPr/>
        <p:txBody>
          <a:bodyPr/>
          <a:lstStyle/>
          <a:p>
            <a:endParaRPr lang="es-UY"/>
          </a:p>
        </p:txBody>
      </p:sp>
      <p:sp>
        <p:nvSpPr>
          <p:cNvPr id="6" name="Slide Number Placeholder 5"/>
          <p:cNvSpPr>
            <a:spLocks noGrp="1"/>
          </p:cNvSpPr>
          <p:nvPr>
            <p:ph type="sldNum" sz="quarter" idx="12"/>
          </p:nvPr>
        </p:nvSpPr>
        <p:spPr/>
        <p:txBody>
          <a:bodyPr/>
          <a:lstStyle/>
          <a:p>
            <a:fld id="{EFCFC3CD-8CA7-4FA9-9F24-E621232DDA4A}" type="slidenum">
              <a:rPr lang="es-UY" smtClean="0"/>
              <a:t>‹#›</a:t>
            </a:fld>
            <a:endParaRPr lang="es-UY"/>
          </a:p>
        </p:txBody>
      </p:sp>
    </p:spTree>
    <p:extLst>
      <p:ext uri="{BB962C8B-B14F-4D97-AF65-F5344CB8AC3E}">
        <p14:creationId xmlns:p14="http://schemas.microsoft.com/office/powerpoint/2010/main" val="2956941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618F243-A78F-4990-9421-0BC6506A18EC}" type="datetimeFigureOut">
              <a:rPr lang="es-UY" smtClean="0"/>
              <a:t>11/4/2023</a:t>
            </a:fld>
            <a:endParaRPr lang="es-UY"/>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s-UY"/>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FCFC3CD-8CA7-4FA9-9F24-E621232DDA4A}" type="slidenum">
              <a:rPr lang="es-UY" smtClean="0"/>
              <a:t>‹#›</a:t>
            </a:fld>
            <a:endParaRPr lang="es-UY"/>
          </a:p>
        </p:txBody>
      </p:sp>
    </p:spTree>
    <p:extLst>
      <p:ext uri="{BB962C8B-B14F-4D97-AF65-F5344CB8AC3E}">
        <p14:creationId xmlns:p14="http://schemas.microsoft.com/office/powerpoint/2010/main" val="2869438921"/>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cppreference.com/w/cpp/containe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vectoremplace_back-c-stl/" TargetMode="External"/><Relationship Id="rId7" Type="http://schemas.openxmlformats.org/officeDocument/2006/relationships/hyperlink" Target="https://www.geeksforgeeks.org/upper_bound-in-cpp/" TargetMode="External"/><Relationship Id="rId2" Type="http://schemas.openxmlformats.org/officeDocument/2006/relationships/hyperlink" Target="https://www.geeksforgeeks.org/vectorpush_back-vectorpop_back-c-stl/" TargetMode="External"/><Relationship Id="rId1" Type="http://schemas.openxmlformats.org/officeDocument/2006/relationships/slideLayout" Target="../slideLayouts/slideLayout2.xml"/><Relationship Id="rId6" Type="http://schemas.openxmlformats.org/officeDocument/2006/relationships/hyperlink" Target="https://www.geeksforgeeks.org/lower_bound-in-cpp/" TargetMode="External"/><Relationship Id="rId5" Type="http://schemas.openxmlformats.org/officeDocument/2006/relationships/hyperlink" Target="https://www.geeksforgeeks.org/vector-erase-and-clear-in-cpp/" TargetMode="External"/><Relationship Id="rId4" Type="http://schemas.openxmlformats.org/officeDocument/2006/relationships/hyperlink" Target="https://www.geeksforgeeks.org/vectorempty-vectorsize-c-st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en.cppreference.com/w/cpp/container/list"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cppreference.com/w/cpp/container/deque"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cppreference.com/w/cpp/container/map"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ev.to/pratikparvati/c-stl-containers-choose-your-containers-wisely-4lc4" TargetMode="External"/><Relationship Id="rId2" Type="http://schemas.openxmlformats.org/officeDocument/2006/relationships/hyperlink" Target="https://www.geeksforgeeks.org/important-functions-of-stl-components-in-c/"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s-ES" dirty="0" smtClean="0"/>
              <a:t>Modern C++</a:t>
            </a:r>
            <a:endParaRPr lang="es-UY" dirty="0"/>
          </a:p>
        </p:txBody>
      </p:sp>
      <p:sp>
        <p:nvSpPr>
          <p:cNvPr id="3" name="Subtitle 2"/>
          <p:cNvSpPr>
            <a:spLocks noGrp="1"/>
          </p:cNvSpPr>
          <p:nvPr>
            <p:ph type="subTitle" idx="1"/>
          </p:nvPr>
        </p:nvSpPr>
        <p:spPr/>
        <p:txBody>
          <a:bodyPr/>
          <a:lstStyle/>
          <a:p>
            <a:endParaRPr lang="es-UY" dirty="0"/>
          </a:p>
        </p:txBody>
      </p:sp>
      <p:sp>
        <p:nvSpPr>
          <p:cNvPr id="4" name="5 CuadroTexto"/>
          <p:cNvSpPr txBox="1">
            <a:spLocks noChangeArrowheads="1"/>
          </p:cNvSpPr>
          <p:nvPr/>
        </p:nvSpPr>
        <p:spPr bwMode="auto">
          <a:xfrm>
            <a:off x="8685212" y="5617259"/>
            <a:ext cx="2257425" cy="646331"/>
          </a:xfrm>
          <a:prstGeom prst="rect">
            <a:avLst/>
          </a:prstGeom>
          <a:noFill/>
          <a:ln w="9525">
            <a:noFill/>
            <a:miter lim="800000"/>
            <a:headEnd/>
            <a:tailEnd/>
          </a:ln>
        </p:spPr>
        <p:txBody>
          <a:bodyPr wrap="square">
            <a:spAutoFit/>
          </a:bodyPr>
          <a:lstStyle/>
          <a:p>
            <a:r>
              <a:rPr lang="es-AR" sz="1200" b="1" dirty="0"/>
              <a:t>Ing. Gustavo Fresno. 	</a:t>
            </a:r>
          </a:p>
          <a:p>
            <a:r>
              <a:rPr lang="es-AR" sz="1200" b="1" dirty="0"/>
              <a:t>Ing. Jorge </a:t>
            </a:r>
            <a:r>
              <a:rPr lang="es-AR" sz="1200" b="1" dirty="0" err="1"/>
              <a:t>Manganiello</a:t>
            </a:r>
            <a:r>
              <a:rPr lang="es-AR" sz="1200" b="1" dirty="0"/>
              <a:t>. 	</a:t>
            </a:r>
          </a:p>
          <a:p>
            <a:r>
              <a:rPr lang="es-AR" sz="1200" b="1" dirty="0"/>
              <a:t>Ing. Mariano </a:t>
            </a:r>
            <a:r>
              <a:rPr lang="es-AR" sz="1200" b="1" dirty="0" err="1"/>
              <a:t>Vedovato</a:t>
            </a:r>
            <a:r>
              <a:rPr lang="es-AR" sz="1200" b="1" dirty="0"/>
              <a:t>.</a:t>
            </a:r>
          </a:p>
        </p:txBody>
      </p:sp>
    </p:spTree>
    <p:extLst>
      <p:ext uri="{BB962C8B-B14F-4D97-AF65-F5344CB8AC3E}">
        <p14:creationId xmlns:p14="http://schemas.microsoft.com/office/powerpoint/2010/main" val="9771398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pic>
        <p:nvPicPr>
          <p:cNvPr id="1026" name="Picture 2" descr="C++17: New Parallel Algorithms of the Standard Template Library - ModernesCpp.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598" y="966412"/>
            <a:ext cx="10595573" cy="5113877"/>
          </a:xfrm>
          <a:prstGeom prst="rect">
            <a:avLst/>
          </a:prstGeom>
          <a:noFill/>
          <a:extLst>
            <a:ext uri="{909E8E84-426E-40DD-AFC4-6F175D3DCCD1}">
              <a14:hiddenFill xmlns:a14="http://schemas.microsoft.com/office/drawing/2010/main">
                <a:solidFill>
                  <a:srgbClr val="FFFFFF"/>
                </a:solidFill>
              </a14:hiddenFill>
            </a:ext>
          </a:extLst>
        </p:spPr>
      </p:pic>
      <p:sp>
        <p:nvSpPr>
          <p:cNvPr id="3"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37231278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16816" y="478410"/>
            <a:ext cx="11811785" cy="6007231"/>
          </a:xfrm>
        </p:spPr>
        <p:txBody>
          <a:bodyPr>
            <a:normAutofit/>
          </a:bodyPr>
          <a:lstStyle/>
          <a:p>
            <a:r>
              <a:rPr lang="es-ES" b="1" dirty="0"/>
              <a:t>Introducción</a:t>
            </a:r>
          </a:p>
          <a:p>
            <a:r>
              <a:rPr lang="es-ES" dirty="0"/>
              <a:t>Una de las dificultades del lenguaje C es la implementación de contenedores (vectores, listas enlazadas, conjuntos ordenados) genéricos, de fácil uso y eficaces. Para que estos sean genéricos por lo general estamos obligados a recurrir a punteros genéricos (</a:t>
            </a:r>
            <a:r>
              <a:rPr lang="es-ES" dirty="0" err="1"/>
              <a:t>void</a:t>
            </a:r>
            <a:r>
              <a:rPr lang="es-ES" dirty="0"/>
              <a:t> *) y a operadores de cast. </a:t>
            </a:r>
            <a:endParaRPr lang="es-ES" dirty="0" smtClean="0"/>
          </a:p>
          <a:p>
            <a:r>
              <a:rPr lang="es-ES" dirty="0" smtClean="0"/>
              <a:t>Para </a:t>
            </a:r>
            <a:r>
              <a:rPr lang="es-ES" dirty="0"/>
              <a:t>responder a esta necesidad, la STL (standard </a:t>
            </a:r>
            <a:r>
              <a:rPr lang="es-ES" dirty="0" err="1"/>
              <a:t>template</a:t>
            </a:r>
            <a:r>
              <a:rPr lang="es-ES" dirty="0"/>
              <a:t> </a:t>
            </a:r>
            <a:r>
              <a:rPr lang="es-ES" dirty="0" err="1"/>
              <a:t>library</a:t>
            </a:r>
            <a:r>
              <a:rPr lang="es-ES" dirty="0"/>
              <a:t>) implementa un gran número de clases </a:t>
            </a:r>
            <a:r>
              <a:rPr lang="es-ES" dirty="0" err="1"/>
              <a:t>template</a:t>
            </a:r>
            <a:r>
              <a:rPr lang="es-ES" dirty="0"/>
              <a:t> describiendo contenedores genéricos para el lenguaje C++. La STL además proporciona algoritmos que permiten manipular fácilmente estos contenedores (para inicializarlos, buscar valores, etc.). </a:t>
            </a:r>
            <a:r>
              <a:rPr lang="es-ES" dirty="0" err="1" smtClean="0"/>
              <a:t>Ademas</a:t>
            </a:r>
            <a:r>
              <a:rPr lang="es-ES" dirty="0" smtClean="0"/>
              <a:t> introduce el </a:t>
            </a:r>
            <a:r>
              <a:rPr lang="es-ES" dirty="0"/>
              <a:t>concepto de </a:t>
            </a:r>
            <a:r>
              <a:rPr lang="es-ES" dirty="0" err="1"/>
              <a:t>iterador</a:t>
            </a:r>
            <a:r>
              <a:rPr lang="es-ES" dirty="0"/>
              <a:t> que permite recorrer fácilmente un contenedor sin tener en cuenta la manera en que ha sido implementado</a:t>
            </a:r>
            <a:r>
              <a:rPr lang="es-ES" dirty="0" smtClean="0"/>
              <a:t>.</a:t>
            </a:r>
          </a:p>
          <a:p>
            <a:endParaRPr lang="es-ES" dirty="0"/>
          </a:p>
          <a:p>
            <a:r>
              <a:rPr lang="es-ES" dirty="0">
                <a:hlinkClick r:id="rId2"/>
              </a:rPr>
              <a:t>https://</a:t>
            </a:r>
            <a:r>
              <a:rPr lang="es-ES" dirty="0" smtClean="0">
                <a:hlinkClick r:id="rId2"/>
              </a:rPr>
              <a:t>en.cppreference.com/w/cpp/container</a:t>
            </a:r>
            <a:endParaRPr lang="es-ES" dirty="0" smtClean="0"/>
          </a:p>
          <a:p>
            <a:endParaRPr lang="es-ES" dirty="0"/>
          </a:p>
          <a:p>
            <a:endParaRPr lang="es-UY" dirty="0"/>
          </a:p>
        </p:txBody>
      </p:sp>
      <p:sp>
        <p:nvSpPr>
          <p:cNvPr id="4"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2206527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975" y="226244"/>
            <a:ext cx="11858919" cy="6325386"/>
          </a:xfrm>
        </p:spPr>
        <p:txBody>
          <a:bodyPr>
            <a:normAutofit/>
          </a:bodyPr>
          <a:lstStyle/>
          <a:p>
            <a:pPr marL="0" indent="0">
              <a:buNone/>
            </a:pPr>
            <a:r>
              <a:rPr lang="es-ES" sz="2400" b="1" dirty="0" smtClean="0"/>
              <a:t>CONTENEDORES</a:t>
            </a:r>
            <a:endParaRPr lang="es-ES" b="1" dirty="0" smtClean="0"/>
          </a:p>
          <a:p>
            <a:r>
              <a:rPr lang="es-ES" dirty="0"/>
              <a:t>S</a:t>
            </a:r>
            <a:r>
              <a:rPr lang="es-ES" dirty="0" smtClean="0"/>
              <a:t>on objetos </a:t>
            </a:r>
            <a:r>
              <a:rPr lang="es-ES" dirty="0"/>
              <a:t>que </a:t>
            </a:r>
            <a:r>
              <a:rPr lang="es-ES" dirty="0" smtClean="0"/>
              <a:t>almacenan </a:t>
            </a:r>
            <a:r>
              <a:rPr lang="es-ES" dirty="0"/>
              <a:t>una colección de elementos (es decir, otros objetos). </a:t>
            </a:r>
            <a:endParaRPr lang="es-ES" dirty="0" smtClean="0"/>
          </a:p>
          <a:p>
            <a:r>
              <a:rPr lang="es-ES" dirty="0" smtClean="0"/>
              <a:t>Cada </a:t>
            </a:r>
            <a:r>
              <a:rPr lang="es-ES" dirty="0"/>
              <a:t>uno de estos contenedores gestiona el espacio de almacenamiento de sus elementos y proporciona acceso a cada elemento a través de </a:t>
            </a:r>
            <a:r>
              <a:rPr lang="es-ES" dirty="0" err="1"/>
              <a:t>iteradores</a:t>
            </a:r>
            <a:r>
              <a:rPr lang="es-ES" dirty="0"/>
              <a:t> o funciones miembro. </a:t>
            </a:r>
            <a:endParaRPr lang="es-ES" dirty="0" smtClean="0"/>
          </a:p>
          <a:p>
            <a:r>
              <a:rPr lang="es-ES" dirty="0" smtClean="0"/>
              <a:t>La </a:t>
            </a:r>
            <a:r>
              <a:rPr lang="es-ES" dirty="0"/>
              <a:t>biblioteca de contenedores de C++ </a:t>
            </a:r>
            <a:r>
              <a:rPr lang="es-ES" dirty="0" smtClean="0"/>
              <a:t>se clasificada como:</a:t>
            </a:r>
          </a:p>
          <a:p>
            <a:pPr lvl="1"/>
            <a:r>
              <a:rPr lang="es-ES" b="1" dirty="0" smtClean="0"/>
              <a:t>Contenedores </a:t>
            </a:r>
            <a:r>
              <a:rPr lang="es-ES" b="1" dirty="0"/>
              <a:t>de secuencia</a:t>
            </a:r>
            <a:r>
              <a:rPr lang="es-ES" dirty="0"/>
              <a:t>: colecciones ordenadas en las que cada elemento tiene una posición determinada</a:t>
            </a:r>
            <a:r>
              <a:rPr lang="es-ES" dirty="0" smtClean="0"/>
              <a:t>.</a:t>
            </a:r>
          </a:p>
          <a:p>
            <a:pPr lvl="1"/>
            <a:r>
              <a:rPr lang="es-ES" b="1" dirty="0" smtClean="0"/>
              <a:t>Contenedores </a:t>
            </a:r>
            <a:r>
              <a:rPr lang="es-ES" b="1" dirty="0"/>
              <a:t>asociativos</a:t>
            </a:r>
            <a:r>
              <a:rPr lang="es-ES" dirty="0"/>
              <a:t>: colecciones ordenadas en las que la posición de un elemento depende de su clave debido a un cierto criterio de </a:t>
            </a:r>
            <a:r>
              <a:rPr lang="es-ES" dirty="0" smtClean="0"/>
              <a:t>clasificación</a:t>
            </a:r>
          </a:p>
          <a:p>
            <a:pPr lvl="1"/>
            <a:r>
              <a:rPr lang="es-ES" b="1" dirty="0" smtClean="0"/>
              <a:t>Contenedores </a:t>
            </a:r>
            <a:r>
              <a:rPr lang="es-ES" b="1" dirty="0"/>
              <a:t>asociativos desordenados</a:t>
            </a:r>
            <a:r>
              <a:rPr lang="es-ES" dirty="0"/>
              <a:t>: colecciones desordenadas en las que la posición de un elemento no importa</a:t>
            </a:r>
            <a:r>
              <a:rPr lang="es-ES" dirty="0" smtClean="0"/>
              <a:t>.</a:t>
            </a:r>
          </a:p>
          <a:p>
            <a:pPr lvl="1"/>
            <a:r>
              <a:rPr lang="es-ES" b="1" dirty="0" smtClean="0"/>
              <a:t>Adaptador </a:t>
            </a:r>
            <a:r>
              <a:rPr lang="es-ES" b="1" dirty="0"/>
              <a:t>de contenedor</a:t>
            </a:r>
            <a:r>
              <a:rPr lang="es-ES" dirty="0"/>
              <a:t>: proporciona una interfaz diferente para contenedores secuenciales</a:t>
            </a:r>
            <a:endParaRPr lang="es-UY" dirty="0"/>
          </a:p>
        </p:txBody>
      </p:sp>
      <p:sp>
        <p:nvSpPr>
          <p:cNvPr id="3"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42664954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976" y="226244"/>
            <a:ext cx="5706850" cy="2716981"/>
          </a:xfrm>
        </p:spPr>
        <p:txBody>
          <a:bodyPr>
            <a:normAutofit/>
          </a:bodyPr>
          <a:lstStyle/>
          <a:p>
            <a:pPr marL="0" indent="0">
              <a:buNone/>
            </a:pPr>
            <a:r>
              <a:rPr lang="es-ES" sz="2400" b="1" dirty="0" err="1"/>
              <a:t>s</a:t>
            </a:r>
            <a:r>
              <a:rPr lang="es-ES" sz="2400" b="1" dirty="0" err="1" smtClean="0"/>
              <a:t>td</a:t>
            </a:r>
            <a:r>
              <a:rPr lang="es-ES" sz="2400" b="1" dirty="0" smtClean="0"/>
              <a:t>::vector</a:t>
            </a:r>
            <a:endParaRPr lang="es-ES" b="1" dirty="0" smtClean="0"/>
          </a:p>
          <a:p>
            <a:pPr marL="0" indent="0">
              <a:buNone/>
            </a:pPr>
            <a:endParaRPr lang="es-ES" dirty="0" smtClean="0"/>
          </a:p>
          <a:p>
            <a:pPr marL="0" indent="0">
              <a:buNone/>
            </a:pPr>
            <a:r>
              <a:rPr lang="es-ES" dirty="0" smtClean="0"/>
              <a:t>Son objetos </a:t>
            </a:r>
            <a:r>
              <a:rPr lang="es-ES" dirty="0"/>
              <a:t>que </a:t>
            </a:r>
            <a:r>
              <a:rPr lang="es-ES" dirty="0" smtClean="0"/>
              <a:t>almacenan </a:t>
            </a:r>
            <a:r>
              <a:rPr lang="es-ES" dirty="0"/>
              <a:t>una colección de elementos (es </a:t>
            </a:r>
            <a:r>
              <a:rPr lang="es-ES" dirty="0" smtClean="0"/>
              <a:t>decir</a:t>
            </a:r>
            <a:r>
              <a:rPr lang="es-ES" dirty="0"/>
              <a:t>, otros objetos). </a:t>
            </a:r>
            <a:endParaRPr lang="es-ES" dirty="0" smtClean="0"/>
          </a:p>
          <a:p>
            <a:endParaRPr lang="es-ES" dirty="0" smtClean="0"/>
          </a:p>
          <a:p>
            <a:endParaRPr lang="es-ES" dirty="0" smtClean="0"/>
          </a:p>
        </p:txBody>
      </p:sp>
      <p:sp>
        <p:nvSpPr>
          <p:cNvPr id="7" name="Rectangle 6"/>
          <p:cNvSpPr/>
          <p:nvPr/>
        </p:nvSpPr>
        <p:spPr>
          <a:xfrm>
            <a:off x="5534025" y="459671"/>
            <a:ext cx="6096000" cy="6186309"/>
          </a:xfrm>
          <a:prstGeom prst="rect">
            <a:avLst/>
          </a:prstGeom>
        </p:spPr>
        <p:txBody>
          <a:bodyPr>
            <a:spAutoFit/>
          </a:bodyPr>
          <a:lstStyle/>
          <a:p>
            <a:pPr marL="1257300" lvl="3" indent="0">
              <a:buNone/>
            </a:pPr>
            <a:r>
              <a:rPr lang="es-UY" b="1" dirty="0" smtClean="0">
                <a:solidFill>
                  <a:schemeClr val="bg1"/>
                </a:solidFill>
              </a:rPr>
              <a:t>#</a:t>
            </a:r>
            <a:r>
              <a:rPr lang="es-UY" b="1" dirty="0" err="1" smtClean="0">
                <a:solidFill>
                  <a:schemeClr val="bg1"/>
                </a:solidFill>
              </a:rPr>
              <a:t>include</a:t>
            </a:r>
            <a:r>
              <a:rPr lang="es-UY" b="1" dirty="0" smtClean="0">
                <a:solidFill>
                  <a:schemeClr val="bg1"/>
                </a:solidFill>
              </a:rPr>
              <a:t> &lt;</a:t>
            </a:r>
            <a:r>
              <a:rPr lang="es-UY" b="1" dirty="0" err="1" smtClean="0">
                <a:solidFill>
                  <a:schemeClr val="bg1"/>
                </a:solidFill>
              </a:rPr>
              <a:t>iostream</a:t>
            </a:r>
            <a:r>
              <a:rPr lang="es-UY" b="1" dirty="0" smtClean="0">
                <a:solidFill>
                  <a:schemeClr val="bg1"/>
                </a:solidFill>
              </a:rPr>
              <a:t>&gt;</a:t>
            </a:r>
          </a:p>
          <a:p>
            <a:pPr marL="1257300" lvl="3" indent="0">
              <a:buNone/>
            </a:pPr>
            <a:r>
              <a:rPr lang="es-UY" b="1" dirty="0" smtClean="0">
                <a:solidFill>
                  <a:schemeClr val="bg1"/>
                </a:solidFill>
              </a:rPr>
              <a:t>#</a:t>
            </a:r>
            <a:r>
              <a:rPr lang="es-UY" b="1" dirty="0" err="1" smtClean="0">
                <a:solidFill>
                  <a:schemeClr val="bg1"/>
                </a:solidFill>
              </a:rPr>
              <a:t>include</a:t>
            </a:r>
            <a:r>
              <a:rPr lang="es-UY" b="1" dirty="0" smtClean="0">
                <a:solidFill>
                  <a:schemeClr val="bg1"/>
                </a:solidFill>
              </a:rPr>
              <a:t> &lt;vector&gt;  // </a:t>
            </a:r>
            <a:r>
              <a:rPr lang="es-UY" b="1" dirty="0" err="1" smtClean="0">
                <a:solidFill>
                  <a:schemeClr val="bg1"/>
                </a:solidFill>
              </a:rPr>
              <a:t>header</a:t>
            </a:r>
            <a:r>
              <a:rPr lang="es-UY" b="1" dirty="0" smtClean="0">
                <a:solidFill>
                  <a:schemeClr val="bg1"/>
                </a:solidFill>
              </a:rPr>
              <a:t> </a:t>
            </a:r>
            <a:r>
              <a:rPr lang="es-UY" b="1" dirty="0" err="1" smtClean="0">
                <a:solidFill>
                  <a:schemeClr val="bg1"/>
                </a:solidFill>
              </a:rPr>
              <a:t>for</a:t>
            </a:r>
            <a:r>
              <a:rPr lang="es-UY" b="1" dirty="0" smtClean="0">
                <a:solidFill>
                  <a:schemeClr val="bg1"/>
                </a:solidFill>
              </a:rPr>
              <a:t> vector</a:t>
            </a:r>
          </a:p>
          <a:p>
            <a:pPr marL="1257300" lvl="3" indent="0">
              <a:buNone/>
            </a:pPr>
            <a:r>
              <a:rPr lang="es-UY" b="1" dirty="0" smtClean="0">
                <a:solidFill>
                  <a:schemeClr val="bg1"/>
                </a:solidFill>
              </a:rPr>
              <a:t/>
            </a:r>
            <a:br>
              <a:rPr lang="es-UY" b="1" dirty="0" smtClean="0">
                <a:solidFill>
                  <a:schemeClr val="bg1"/>
                </a:solidFill>
              </a:rPr>
            </a:br>
            <a:r>
              <a:rPr lang="es-UY" b="1" dirty="0" err="1" smtClean="0">
                <a:solidFill>
                  <a:schemeClr val="bg1"/>
                </a:solidFill>
              </a:rPr>
              <a:t>int</a:t>
            </a:r>
            <a:r>
              <a:rPr lang="es-UY" b="1" dirty="0" smtClean="0">
                <a:solidFill>
                  <a:schemeClr val="bg1"/>
                </a:solidFill>
              </a:rPr>
              <a:t> </a:t>
            </a:r>
            <a:r>
              <a:rPr lang="es-UY" b="1" dirty="0" err="1" smtClean="0">
                <a:solidFill>
                  <a:schemeClr val="bg1"/>
                </a:solidFill>
              </a:rPr>
              <a:t>main</a:t>
            </a:r>
            <a:r>
              <a:rPr lang="es-UY" b="1" dirty="0" smtClean="0">
                <a:solidFill>
                  <a:schemeClr val="bg1"/>
                </a:solidFill>
              </a:rPr>
              <a:t>()</a:t>
            </a:r>
          </a:p>
          <a:p>
            <a:pPr marL="1257300" lvl="3" indent="0">
              <a:buNone/>
            </a:pPr>
            <a:r>
              <a:rPr lang="es-UY" b="1" dirty="0" smtClean="0">
                <a:solidFill>
                  <a:schemeClr val="bg1"/>
                </a:solidFill>
              </a:rPr>
              <a:t>{</a:t>
            </a:r>
          </a:p>
          <a:p>
            <a:pPr marL="1257300" lvl="3" indent="0">
              <a:buNone/>
            </a:pPr>
            <a:r>
              <a:rPr lang="es-UY" b="1" dirty="0" smtClean="0">
                <a:solidFill>
                  <a:schemeClr val="bg1"/>
                </a:solidFill>
              </a:rPr>
              <a:t>    </a:t>
            </a:r>
            <a:r>
              <a:rPr lang="es-UY" b="1" dirty="0" err="1" smtClean="0">
                <a:solidFill>
                  <a:schemeClr val="bg1"/>
                </a:solidFill>
              </a:rPr>
              <a:t>std</a:t>
            </a:r>
            <a:r>
              <a:rPr lang="es-UY" b="1" dirty="0" smtClean="0">
                <a:solidFill>
                  <a:schemeClr val="bg1"/>
                </a:solidFill>
              </a:rPr>
              <a:t>::vector&lt;</a:t>
            </a:r>
            <a:r>
              <a:rPr lang="es-UY" b="1" dirty="0" err="1" smtClean="0">
                <a:solidFill>
                  <a:schemeClr val="bg1"/>
                </a:solidFill>
              </a:rPr>
              <a:t>int</a:t>
            </a:r>
            <a:r>
              <a:rPr lang="es-UY" b="1" dirty="0" smtClean="0">
                <a:solidFill>
                  <a:schemeClr val="bg1"/>
                </a:solidFill>
              </a:rPr>
              <a:t>&gt; </a:t>
            </a:r>
            <a:r>
              <a:rPr lang="es-UY" b="1" dirty="0" err="1" smtClean="0">
                <a:solidFill>
                  <a:schemeClr val="bg1"/>
                </a:solidFill>
              </a:rPr>
              <a:t>vec</a:t>
            </a:r>
            <a:r>
              <a:rPr lang="es-UY" b="1" dirty="0" smtClean="0">
                <a:solidFill>
                  <a:schemeClr val="bg1"/>
                </a:solidFill>
              </a:rPr>
              <a:t>; //vector </a:t>
            </a:r>
            <a:r>
              <a:rPr lang="es-UY" b="1" dirty="0" err="1" smtClean="0">
                <a:solidFill>
                  <a:schemeClr val="bg1"/>
                </a:solidFill>
              </a:rPr>
              <a:t>container</a:t>
            </a:r>
            <a:r>
              <a:rPr lang="es-UY" b="1" dirty="0" smtClean="0">
                <a:solidFill>
                  <a:schemeClr val="bg1"/>
                </a:solidFill>
              </a:rPr>
              <a:t> </a:t>
            </a:r>
            <a:r>
              <a:rPr lang="es-UY" b="1" dirty="0" err="1" smtClean="0">
                <a:solidFill>
                  <a:schemeClr val="bg1"/>
                </a:solidFill>
              </a:rPr>
              <a:t>for</a:t>
            </a:r>
            <a:r>
              <a:rPr lang="es-UY" b="1" dirty="0" smtClean="0">
                <a:solidFill>
                  <a:schemeClr val="bg1"/>
                </a:solidFill>
              </a:rPr>
              <a:t> </a:t>
            </a:r>
            <a:r>
              <a:rPr lang="es-UY" b="1" dirty="0" err="1" smtClean="0">
                <a:solidFill>
                  <a:schemeClr val="bg1"/>
                </a:solidFill>
              </a:rPr>
              <a:t>integer</a:t>
            </a:r>
            <a:r>
              <a:rPr lang="es-UY" b="1" dirty="0" smtClean="0">
                <a:solidFill>
                  <a:schemeClr val="bg1"/>
                </a:solidFill>
              </a:rPr>
              <a:t> </a:t>
            </a:r>
            <a:r>
              <a:rPr lang="es-UY" b="1" dirty="0" err="1" smtClean="0">
                <a:solidFill>
                  <a:schemeClr val="bg1"/>
                </a:solidFill>
              </a:rPr>
              <a:t>elements</a:t>
            </a:r>
            <a:endParaRPr lang="es-UY" b="1" dirty="0" smtClean="0">
              <a:solidFill>
                <a:schemeClr val="bg1"/>
              </a:solidFill>
            </a:endParaRPr>
          </a:p>
          <a:p>
            <a:pPr marL="1257300" lvl="3" indent="0">
              <a:buNone/>
            </a:pPr>
            <a:r>
              <a:rPr lang="es-UY" b="1" dirty="0" smtClean="0">
                <a:solidFill>
                  <a:schemeClr val="bg1"/>
                </a:solidFill>
              </a:rPr>
              <a:t/>
            </a:r>
            <a:br>
              <a:rPr lang="es-UY" b="1" dirty="0" smtClean="0">
                <a:solidFill>
                  <a:schemeClr val="bg1"/>
                </a:solidFill>
              </a:rPr>
            </a:br>
            <a:r>
              <a:rPr lang="es-UY" b="1" dirty="0" smtClean="0">
                <a:solidFill>
                  <a:schemeClr val="bg1"/>
                </a:solidFill>
              </a:rPr>
              <a:t>    // </a:t>
            </a:r>
            <a:r>
              <a:rPr lang="es-UY" b="1" dirty="0" err="1" smtClean="0">
                <a:solidFill>
                  <a:schemeClr val="bg1"/>
                </a:solidFill>
              </a:rPr>
              <a:t>append</a:t>
            </a:r>
            <a:r>
              <a:rPr lang="es-UY" b="1" dirty="0" smtClean="0">
                <a:solidFill>
                  <a:schemeClr val="bg1"/>
                </a:solidFill>
              </a:rPr>
              <a:t> </a:t>
            </a:r>
            <a:r>
              <a:rPr lang="es-UY" b="1" dirty="0" err="1" smtClean="0">
                <a:solidFill>
                  <a:schemeClr val="bg1"/>
                </a:solidFill>
              </a:rPr>
              <a:t>elements</a:t>
            </a:r>
            <a:r>
              <a:rPr lang="es-UY" b="1" dirty="0" smtClean="0">
                <a:solidFill>
                  <a:schemeClr val="bg1"/>
                </a:solidFill>
              </a:rPr>
              <a:t> </a:t>
            </a:r>
            <a:r>
              <a:rPr lang="es-UY" b="1" dirty="0" err="1" smtClean="0">
                <a:solidFill>
                  <a:schemeClr val="bg1"/>
                </a:solidFill>
              </a:rPr>
              <a:t>with</a:t>
            </a:r>
            <a:r>
              <a:rPr lang="es-UY" b="1" dirty="0" smtClean="0">
                <a:solidFill>
                  <a:schemeClr val="bg1"/>
                </a:solidFill>
              </a:rPr>
              <a:t> </a:t>
            </a:r>
            <a:r>
              <a:rPr lang="es-UY" b="1" dirty="0" err="1" smtClean="0">
                <a:solidFill>
                  <a:schemeClr val="bg1"/>
                </a:solidFill>
              </a:rPr>
              <a:t>values</a:t>
            </a:r>
            <a:r>
              <a:rPr lang="es-UY" b="1" dirty="0" smtClean="0">
                <a:solidFill>
                  <a:schemeClr val="bg1"/>
                </a:solidFill>
              </a:rPr>
              <a:t> 1 </a:t>
            </a:r>
            <a:r>
              <a:rPr lang="es-UY" b="1" dirty="0" err="1" smtClean="0">
                <a:solidFill>
                  <a:schemeClr val="bg1"/>
                </a:solidFill>
              </a:rPr>
              <a:t>to</a:t>
            </a:r>
            <a:r>
              <a:rPr lang="es-UY" b="1" dirty="0" smtClean="0">
                <a:solidFill>
                  <a:schemeClr val="bg1"/>
                </a:solidFill>
              </a:rPr>
              <a:t> 6</a:t>
            </a:r>
          </a:p>
          <a:p>
            <a:pPr marL="1257300" lvl="3" indent="0">
              <a:buNone/>
            </a:pPr>
            <a:r>
              <a:rPr lang="es-UY" b="1" dirty="0" smtClean="0">
                <a:solidFill>
                  <a:schemeClr val="bg1"/>
                </a:solidFill>
              </a:rPr>
              <a:t>    </a:t>
            </a:r>
            <a:r>
              <a:rPr lang="es-UY" b="1" dirty="0" err="1" smtClean="0">
                <a:solidFill>
                  <a:schemeClr val="bg1"/>
                </a:solidFill>
              </a:rPr>
              <a:t>for</a:t>
            </a:r>
            <a:r>
              <a:rPr lang="es-UY" b="1" dirty="0" smtClean="0">
                <a:solidFill>
                  <a:schemeClr val="bg1"/>
                </a:solidFill>
              </a:rPr>
              <a:t> (</a:t>
            </a:r>
            <a:r>
              <a:rPr lang="es-UY" b="1" dirty="0" err="1" smtClean="0">
                <a:solidFill>
                  <a:schemeClr val="bg1"/>
                </a:solidFill>
              </a:rPr>
              <a:t>int</a:t>
            </a:r>
            <a:r>
              <a:rPr lang="es-UY" b="1" dirty="0" smtClean="0">
                <a:solidFill>
                  <a:schemeClr val="bg1"/>
                </a:solidFill>
              </a:rPr>
              <a:t> i = 1; i &lt;= 6; ++i)</a:t>
            </a:r>
          </a:p>
          <a:p>
            <a:pPr marL="1257300" lvl="3" indent="0">
              <a:buNone/>
            </a:pPr>
            <a:r>
              <a:rPr lang="es-UY" b="1" dirty="0" smtClean="0">
                <a:solidFill>
                  <a:schemeClr val="bg1"/>
                </a:solidFill>
              </a:rPr>
              <a:t>    {</a:t>
            </a:r>
          </a:p>
          <a:p>
            <a:pPr marL="1257300" lvl="3" indent="0">
              <a:buNone/>
            </a:pPr>
            <a:r>
              <a:rPr lang="es-UY" b="1" dirty="0" smtClean="0">
                <a:solidFill>
                  <a:schemeClr val="bg1"/>
                </a:solidFill>
              </a:rPr>
              <a:t>        </a:t>
            </a:r>
            <a:r>
              <a:rPr lang="es-UY" b="1" dirty="0" err="1" smtClean="0">
                <a:solidFill>
                  <a:schemeClr val="bg1"/>
                </a:solidFill>
              </a:rPr>
              <a:t>vec.push_back</a:t>
            </a:r>
            <a:r>
              <a:rPr lang="es-UY" b="1" dirty="0" smtClean="0">
                <a:solidFill>
                  <a:schemeClr val="bg1"/>
                </a:solidFill>
              </a:rPr>
              <a:t>(i);</a:t>
            </a:r>
          </a:p>
          <a:p>
            <a:pPr marL="1257300" lvl="3" indent="0">
              <a:buNone/>
            </a:pPr>
            <a:r>
              <a:rPr lang="es-UY" b="1" dirty="0" smtClean="0">
                <a:solidFill>
                  <a:schemeClr val="bg1"/>
                </a:solidFill>
              </a:rPr>
              <a:t>    }</a:t>
            </a:r>
          </a:p>
          <a:p>
            <a:pPr marL="1257300" lvl="3" indent="0">
              <a:buNone/>
            </a:pPr>
            <a:r>
              <a:rPr lang="es-UY" b="1" dirty="0" smtClean="0">
                <a:solidFill>
                  <a:schemeClr val="bg1"/>
                </a:solidFill>
              </a:rPr>
              <a:t/>
            </a:r>
            <a:br>
              <a:rPr lang="es-UY" b="1" dirty="0" smtClean="0">
                <a:solidFill>
                  <a:schemeClr val="bg1"/>
                </a:solidFill>
              </a:rPr>
            </a:br>
            <a:r>
              <a:rPr lang="es-UY" b="1" dirty="0" smtClean="0">
                <a:solidFill>
                  <a:schemeClr val="bg1"/>
                </a:solidFill>
              </a:rPr>
              <a:t>    //</a:t>
            </a:r>
            <a:r>
              <a:rPr lang="es-UY" b="1" dirty="0" err="1" smtClean="0">
                <a:solidFill>
                  <a:schemeClr val="bg1"/>
                </a:solidFill>
              </a:rPr>
              <a:t>print</a:t>
            </a:r>
            <a:r>
              <a:rPr lang="es-UY" b="1" dirty="0" smtClean="0">
                <a:solidFill>
                  <a:schemeClr val="bg1"/>
                </a:solidFill>
              </a:rPr>
              <a:t> </a:t>
            </a:r>
            <a:r>
              <a:rPr lang="es-UY" b="1" dirty="0" err="1" smtClean="0">
                <a:solidFill>
                  <a:schemeClr val="bg1"/>
                </a:solidFill>
              </a:rPr>
              <a:t>all</a:t>
            </a:r>
            <a:r>
              <a:rPr lang="es-UY" b="1" dirty="0" smtClean="0">
                <a:solidFill>
                  <a:schemeClr val="bg1"/>
                </a:solidFill>
              </a:rPr>
              <a:t> </a:t>
            </a:r>
            <a:r>
              <a:rPr lang="es-UY" b="1" dirty="0" err="1" smtClean="0">
                <a:solidFill>
                  <a:schemeClr val="bg1"/>
                </a:solidFill>
              </a:rPr>
              <a:t>elements</a:t>
            </a:r>
            <a:r>
              <a:rPr lang="es-UY" b="1" dirty="0" smtClean="0">
                <a:solidFill>
                  <a:schemeClr val="bg1"/>
                </a:solidFill>
              </a:rPr>
              <a:t> </a:t>
            </a:r>
            <a:r>
              <a:rPr lang="es-UY" b="1" dirty="0" err="1" smtClean="0">
                <a:solidFill>
                  <a:schemeClr val="bg1"/>
                </a:solidFill>
              </a:rPr>
              <a:t>followed</a:t>
            </a:r>
            <a:r>
              <a:rPr lang="es-UY" b="1" dirty="0" smtClean="0">
                <a:solidFill>
                  <a:schemeClr val="bg1"/>
                </a:solidFill>
              </a:rPr>
              <a:t> </a:t>
            </a:r>
            <a:r>
              <a:rPr lang="es-UY" b="1" dirty="0" err="1" smtClean="0">
                <a:solidFill>
                  <a:schemeClr val="bg1"/>
                </a:solidFill>
              </a:rPr>
              <a:t>by</a:t>
            </a:r>
            <a:r>
              <a:rPr lang="es-UY" b="1" dirty="0" smtClean="0">
                <a:solidFill>
                  <a:schemeClr val="bg1"/>
                </a:solidFill>
              </a:rPr>
              <a:t> a </a:t>
            </a:r>
            <a:r>
              <a:rPr lang="es-UY" b="1" dirty="0" err="1" smtClean="0">
                <a:solidFill>
                  <a:schemeClr val="bg1"/>
                </a:solidFill>
              </a:rPr>
              <a:t>space</a:t>
            </a:r>
            <a:endParaRPr lang="es-UY" b="1" dirty="0" smtClean="0">
              <a:solidFill>
                <a:schemeClr val="bg1"/>
              </a:solidFill>
            </a:endParaRPr>
          </a:p>
          <a:p>
            <a:pPr marL="1257300" lvl="3" indent="0">
              <a:buNone/>
            </a:pPr>
            <a:r>
              <a:rPr lang="es-UY" b="1" dirty="0" smtClean="0">
                <a:solidFill>
                  <a:schemeClr val="bg1"/>
                </a:solidFill>
              </a:rPr>
              <a:t>    </a:t>
            </a:r>
            <a:r>
              <a:rPr lang="es-UY" b="1" dirty="0" err="1" smtClean="0">
                <a:solidFill>
                  <a:schemeClr val="bg1"/>
                </a:solidFill>
              </a:rPr>
              <a:t>for</a:t>
            </a:r>
            <a:r>
              <a:rPr lang="es-UY" b="1" dirty="0" smtClean="0">
                <a:solidFill>
                  <a:schemeClr val="bg1"/>
                </a:solidFill>
              </a:rPr>
              <a:t> (</a:t>
            </a:r>
            <a:r>
              <a:rPr lang="es-UY" b="1" dirty="0" err="1" smtClean="0">
                <a:solidFill>
                  <a:schemeClr val="bg1"/>
                </a:solidFill>
              </a:rPr>
              <a:t>const</a:t>
            </a:r>
            <a:r>
              <a:rPr lang="es-UY" b="1" dirty="0" smtClean="0">
                <a:solidFill>
                  <a:schemeClr val="bg1"/>
                </a:solidFill>
              </a:rPr>
              <a:t> auto &amp;ele : </a:t>
            </a:r>
            <a:r>
              <a:rPr lang="es-UY" b="1" dirty="0" err="1" smtClean="0">
                <a:solidFill>
                  <a:schemeClr val="bg1"/>
                </a:solidFill>
              </a:rPr>
              <a:t>vec</a:t>
            </a:r>
            <a:r>
              <a:rPr lang="es-UY" b="1" dirty="0" smtClean="0">
                <a:solidFill>
                  <a:schemeClr val="bg1"/>
                </a:solidFill>
              </a:rPr>
              <a:t>)</a:t>
            </a:r>
          </a:p>
          <a:p>
            <a:pPr marL="1257300" lvl="3" indent="0">
              <a:buNone/>
            </a:pPr>
            <a:r>
              <a:rPr lang="es-UY" b="1" dirty="0" smtClean="0">
                <a:solidFill>
                  <a:schemeClr val="bg1"/>
                </a:solidFill>
              </a:rPr>
              <a:t>    {</a:t>
            </a:r>
          </a:p>
          <a:p>
            <a:pPr marL="1257300" lvl="3" indent="0">
              <a:buNone/>
            </a:pPr>
            <a:r>
              <a:rPr lang="es-UY" b="1" dirty="0" smtClean="0">
                <a:solidFill>
                  <a:schemeClr val="bg1"/>
                </a:solidFill>
              </a:rPr>
              <a:t>        </a:t>
            </a:r>
            <a:r>
              <a:rPr lang="es-UY" b="1" dirty="0" err="1" smtClean="0">
                <a:solidFill>
                  <a:schemeClr val="bg1"/>
                </a:solidFill>
              </a:rPr>
              <a:t>std</a:t>
            </a:r>
            <a:r>
              <a:rPr lang="es-UY" b="1" dirty="0" smtClean="0">
                <a:solidFill>
                  <a:schemeClr val="bg1"/>
                </a:solidFill>
              </a:rPr>
              <a:t>::</a:t>
            </a:r>
            <a:r>
              <a:rPr lang="es-UY" b="1" dirty="0" err="1" smtClean="0">
                <a:solidFill>
                  <a:schemeClr val="bg1"/>
                </a:solidFill>
              </a:rPr>
              <a:t>cout</a:t>
            </a:r>
            <a:r>
              <a:rPr lang="es-UY" b="1" dirty="0" smtClean="0">
                <a:solidFill>
                  <a:schemeClr val="bg1"/>
                </a:solidFill>
              </a:rPr>
              <a:t> &lt;&lt; ele &lt;&lt; ' ';</a:t>
            </a:r>
          </a:p>
          <a:p>
            <a:pPr marL="1257300" lvl="3" indent="0">
              <a:buNone/>
            </a:pPr>
            <a:r>
              <a:rPr lang="es-UY" b="1" dirty="0" smtClean="0">
                <a:solidFill>
                  <a:schemeClr val="bg1"/>
                </a:solidFill>
              </a:rPr>
              <a:t>    }</a:t>
            </a:r>
          </a:p>
          <a:p>
            <a:pPr marL="1257300" lvl="3" indent="0">
              <a:buNone/>
            </a:pPr>
            <a:r>
              <a:rPr lang="es-UY" b="1" dirty="0" smtClean="0">
                <a:solidFill>
                  <a:schemeClr val="bg1"/>
                </a:solidFill>
              </a:rPr>
              <a:t>    </a:t>
            </a:r>
            <a:r>
              <a:rPr lang="es-UY" b="1" dirty="0" err="1" smtClean="0">
                <a:solidFill>
                  <a:schemeClr val="bg1"/>
                </a:solidFill>
              </a:rPr>
              <a:t>std</a:t>
            </a:r>
            <a:r>
              <a:rPr lang="es-UY" b="1" dirty="0" smtClean="0">
                <a:solidFill>
                  <a:schemeClr val="bg1"/>
                </a:solidFill>
              </a:rPr>
              <a:t>::</a:t>
            </a:r>
            <a:r>
              <a:rPr lang="es-UY" b="1" dirty="0" err="1" smtClean="0">
                <a:solidFill>
                  <a:schemeClr val="bg1"/>
                </a:solidFill>
              </a:rPr>
              <a:t>cout</a:t>
            </a:r>
            <a:r>
              <a:rPr lang="es-UY" b="1" dirty="0" smtClean="0">
                <a:solidFill>
                  <a:schemeClr val="bg1"/>
                </a:solidFill>
              </a:rPr>
              <a:t> &lt;&lt; </a:t>
            </a:r>
            <a:r>
              <a:rPr lang="es-UY" b="1" dirty="0" err="1" smtClean="0">
                <a:solidFill>
                  <a:schemeClr val="bg1"/>
                </a:solidFill>
              </a:rPr>
              <a:t>std</a:t>
            </a:r>
            <a:r>
              <a:rPr lang="es-UY" b="1" dirty="0" smtClean="0">
                <a:solidFill>
                  <a:schemeClr val="bg1"/>
                </a:solidFill>
              </a:rPr>
              <a:t>::</a:t>
            </a:r>
            <a:r>
              <a:rPr lang="es-UY" b="1" dirty="0" err="1" smtClean="0">
                <a:solidFill>
                  <a:schemeClr val="bg1"/>
                </a:solidFill>
              </a:rPr>
              <a:t>endl</a:t>
            </a:r>
            <a:r>
              <a:rPr lang="es-UY" b="1" dirty="0" smtClean="0">
                <a:solidFill>
                  <a:schemeClr val="bg1"/>
                </a:solidFill>
              </a:rPr>
              <a:t>;</a:t>
            </a:r>
          </a:p>
          <a:p>
            <a:pPr marL="1257300" lvl="3" indent="0">
              <a:buNone/>
            </a:pPr>
            <a:r>
              <a:rPr lang="es-UY" b="1" dirty="0" smtClean="0">
                <a:solidFill>
                  <a:schemeClr val="bg1"/>
                </a:solidFill>
              </a:rPr>
              <a:t>}</a:t>
            </a:r>
            <a:endParaRPr lang="es-UY" b="1" dirty="0">
              <a:solidFill>
                <a:schemeClr val="bg1"/>
              </a:solidFill>
            </a:endParaRPr>
          </a:p>
        </p:txBody>
      </p:sp>
      <p:pic>
        <p:nvPicPr>
          <p:cNvPr id="8" name="Picture 7"/>
          <p:cNvPicPr>
            <a:picLocks noChangeAspect="1"/>
          </p:cNvPicPr>
          <p:nvPr/>
        </p:nvPicPr>
        <p:blipFill>
          <a:blip r:embed="rId2"/>
          <a:stretch>
            <a:fillRect/>
          </a:stretch>
        </p:blipFill>
        <p:spPr>
          <a:xfrm>
            <a:off x="284376" y="3438320"/>
            <a:ext cx="5402049" cy="2114143"/>
          </a:xfrm>
          <a:prstGeom prst="rect">
            <a:avLst/>
          </a:prstGeom>
        </p:spPr>
      </p:pic>
      <p:sp>
        <p:nvSpPr>
          <p:cNvPr id="3" name="Rectangle 2"/>
          <p:cNvSpPr/>
          <p:nvPr/>
        </p:nvSpPr>
        <p:spPr>
          <a:xfrm>
            <a:off x="131976" y="6276648"/>
            <a:ext cx="6611724" cy="369332"/>
          </a:xfrm>
          <a:prstGeom prst="rect">
            <a:avLst/>
          </a:prstGeom>
        </p:spPr>
        <p:txBody>
          <a:bodyPr wrap="square">
            <a:spAutoFit/>
          </a:bodyPr>
          <a:lstStyle/>
          <a:p>
            <a:r>
              <a:rPr lang="es-UY" dirty="0">
                <a:solidFill>
                  <a:schemeClr val="bg1"/>
                </a:solidFill>
              </a:rPr>
              <a:t>https://en.cppreference.com/w/cpp/container/vector</a:t>
            </a:r>
          </a:p>
        </p:txBody>
      </p:sp>
      <p:sp>
        <p:nvSpPr>
          <p:cNvPr id="6" name="4 Marcador de pie de página"/>
          <p:cNvSpPr>
            <a:spLocks noGrp="1"/>
          </p:cNvSpPr>
          <p:nvPr>
            <p:ph type="ftr" sz="quarter" idx="11"/>
          </p:nvPr>
        </p:nvSpPr>
        <p:spPr bwMode="auto">
          <a:xfrm>
            <a:off x="7943850" y="6514282"/>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36386815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pic>
        <p:nvPicPr>
          <p:cNvPr id="4098" name="Picture 2" descr="https://res.cloudinary.com/practicaldev/image/fetch/s--otyftaML--/c_limit%2Cf_auto%2Cfl_progressive%2Cq_auto%2Cw_880/https:/firebasestorage.googleapis.com/v0/b/pratik-blog10.appspot.com/o/CPP%252Fcontainers%2520STL%252Fsize_and_capacity.png%3Falt%3Dmedia%26token%3D00fd980e-75f6-43ab-87b2-24fd2ab1da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3168" y="0"/>
            <a:ext cx="6725991" cy="6798574"/>
          </a:xfrm>
          <a:prstGeom prst="rect">
            <a:avLst/>
          </a:prstGeom>
          <a:noFill/>
          <a:extLst>
            <a:ext uri="{909E8E84-426E-40DD-AFC4-6F175D3DCCD1}">
              <a14:hiddenFill xmlns:a14="http://schemas.microsoft.com/office/drawing/2010/main">
                <a:solidFill>
                  <a:srgbClr val="FFFFFF"/>
                </a:solidFill>
              </a14:hiddenFill>
            </a:ext>
          </a:extLst>
        </p:spPr>
      </p:pic>
      <p:sp>
        <p:nvSpPr>
          <p:cNvPr id="3" name="4 Marcador de pie de página"/>
          <p:cNvSpPr>
            <a:spLocks noGrp="1"/>
          </p:cNvSpPr>
          <p:nvPr>
            <p:ph type="ftr" sz="quarter" idx="11"/>
          </p:nvPr>
        </p:nvSpPr>
        <p:spPr bwMode="auto">
          <a:xfrm>
            <a:off x="9229725"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22248304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Rectangle 1"/>
          <p:cNvSpPr/>
          <p:nvPr/>
        </p:nvSpPr>
        <p:spPr>
          <a:xfrm>
            <a:off x="266700" y="694194"/>
            <a:ext cx="11734800" cy="5632311"/>
          </a:xfrm>
          <a:prstGeom prst="rect">
            <a:avLst/>
          </a:prstGeom>
        </p:spPr>
        <p:txBody>
          <a:bodyPr wrap="square">
            <a:spAutoFit/>
          </a:bodyPr>
          <a:lstStyle/>
          <a:p>
            <a:pPr fontAlgn="base"/>
            <a:r>
              <a:rPr lang="es-ES" b="1" dirty="0">
                <a:solidFill>
                  <a:srgbClr val="273239"/>
                </a:solidFill>
                <a:latin typeface="Nunito"/>
              </a:rPr>
              <a:t>Función más común para vector:</a:t>
            </a:r>
            <a:r>
              <a:rPr lang="es-ES" dirty="0">
                <a:solidFill>
                  <a:srgbClr val="273239"/>
                </a:solidFill>
                <a:latin typeface="Nunito"/>
              </a:rPr>
              <a:t> </a:t>
            </a:r>
            <a:endParaRPr lang="es-ES" dirty="0" smtClean="0">
              <a:solidFill>
                <a:srgbClr val="273239"/>
              </a:solidFill>
              <a:latin typeface="Nunito"/>
            </a:endParaRPr>
          </a:p>
          <a:p>
            <a:pPr fontAlgn="base"/>
            <a:endParaRPr lang="es-ES" dirty="0">
              <a:solidFill>
                <a:srgbClr val="273239"/>
              </a:solidFill>
              <a:latin typeface="Nunito"/>
            </a:endParaRPr>
          </a:p>
          <a:p>
            <a:pPr fontAlgn="base">
              <a:buFont typeface="+mj-lt"/>
              <a:buAutoNum type="arabicPeriod"/>
            </a:pPr>
            <a:r>
              <a:rPr lang="es-ES" u="sng" dirty="0" err="1">
                <a:solidFill>
                  <a:srgbClr val="273239"/>
                </a:solidFill>
                <a:latin typeface="Nunito"/>
                <a:hlinkClick r:id="rId2"/>
              </a:rPr>
              <a:t>push_back</a:t>
            </a:r>
            <a:r>
              <a:rPr lang="es-ES" u="sng" dirty="0">
                <a:solidFill>
                  <a:srgbClr val="273239"/>
                </a:solidFill>
                <a:latin typeface="Nunito"/>
                <a:hlinkClick r:id="rId2"/>
              </a:rPr>
              <a:t> ( ):</a:t>
            </a:r>
            <a:r>
              <a:rPr lang="es-ES" dirty="0">
                <a:solidFill>
                  <a:srgbClr val="273239"/>
                </a:solidFill>
                <a:latin typeface="Nunito"/>
              </a:rPr>
              <a:t> Se usa para empujar el elemento al final del vector. Para un método más rápido, use </a:t>
            </a:r>
            <a:r>
              <a:rPr lang="es-ES" u="sng" dirty="0" err="1">
                <a:solidFill>
                  <a:srgbClr val="273239"/>
                </a:solidFill>
                <a:latin typeface="Nunito"/>
                <a:hlinkClick r:id="rId3"/>
              </a:rPr>
              <a:t>emplace_back</a:t>
            </a:r>
            <a:r>
              <a:rPr lang="es-ES" u="sng" dirty="0">
                <a:solidFill>
                  <a:srgbClr val="273239"/>
                </a:solidFill>
                <a:latin typeface="Nunito"/>
                <a:hlinkClick r:id="rId3"/>
              </a:rPr>
              <a:t> ( </a:t>
            </a:r>
            <a:r>
              <a:rPr lang="es-ES" u="sng" dirty="0" smtClean="0">
                <a:solidFill>
                  <a:srgbClr val="273239"/>
                </a:solidFill>
                <a:latin typeface="Nunito"/>
                <a:hlinkClick r:id="rId3"/>
              </a:rPr>
              <a:t>)</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a:solidFill>
                  <a:srgbClr val="273239"/>
                </a:solidFill>
                <a:latin typeface="Nunito"/>
                <a:hlinkClick r:id="rId2"/>
              </a:rPr>
              <a:t>pop_back</a:t>
            </a:r>
            <a:r>
              <a:rPr lang="es-ES" u="sng" dirty="0">
                <a:solidFill>
                  <a:srgbClr val="273239"/>
                </a:solidFill>
                <a:latin typeface="Nunito"/>
                <a:hlinkClick r:id="rId2"/>
              </a:rPr>
              <a:t> ( ):</a:t>
            </a:r>
            <a:r>
              <a:rPr lang="es-ES" dirty="0">
                <a:solidFill>
                  <a:srgbClr val="273239"/>
                </a:solidFill>
                <a:latin typeface="Nunito"/>
              </a:rPr>
              <a:t> Se usa para eliminar el último elemento del vector</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smtClean="0">
                <a:solidFill>
                  <a:srgbClr val="273239"/>
                </a:solidFill>
                <a:latin typeface="Nunito"/>
                <a:hlinkClick r:id="rId4"/>
              </a:rPr>
              <a:t>size</a:t>
            </a:r>
            <a:r>
              <a:rPr lang="es-ES" u="sng" dirty="0" smtClean="0">
                <a:solidFill>
                  <a:srgbClr val="273239"/>
                </a:solidFill>
                <a:latin typeface="Nunito"/>
                <a:hlinkClick r:id="rId4"/>
              </a:rPr>
              <a:t>( </a:t>
            </a:r>
            <a:r>
              <a:rPr lang="es-ES" u="sng" dirty="0">
                <a:solidFill>
                  <a:srgbClr val="273239"/>
                </a:solidFill>
                <a:latin typeface="Nunito"/>
                <a:hlinkClick r:id="rId4"/>
              </a:rPr>
              <a:t>)</a:t>
            </a:r>
            <a:r>
              <a:rPr lang="es-ES" dirty="0">
                <a:solidFill>
                  <a:srgbClr val="273239"/>
                </a:solidFill>
                <a:latin typeface="Nunito"/>
              </a:rPr>
              <a:t>: Devuelve el tamaño del vector</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smtClean="0">
                <a:solidFill>
                  <a:srgbClr val="273239"/>
                </a:solidFill>
                <a:latin typeface="Nunito"/>
                <a:hlinkClick r:id="rId5"/>
              </a:rPr>
              <a:t>clear</a:t>
            </a:r>
            <a:r>
              <a:rPr lang="es-ES" u="sng" dirty="0" smtClean="0">
                <a:solidFill>
                  <a:srgbClr val="273239"/>
                </a:solidFill>
                <a:latin typeface="Nunito"/>
                <a:hlinkClick r:id="rId5"/>
              </a:rPr>
              <a:t>( </a:t>
            </a:r>
            <a:r>
              <a:rPr lang="es-ES" u="sng" dirty="0">
                <a:solidFill>
                  <a:srgbClr val="273239"/>
                </a:solidFill>
                <a:latin typeface="Nunito"/>
                <a:hlinkClick r:id="rId5"/>
              </a:rPr>
              <a:t>)</a:t>
            </a:r>
            <a:r>
              <a:rPr lang="es-ES" dirty="0">
                <a:solidFill>
                  <a:srgbClr val="273239"/>
                </a:solidFill>
                <a:latin typeface="Nunito"/>
              </a:rPr>
              <a:t>: Elimina todo el contenido del vector</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smtClean="0">
                <a:solidFill>
                  <a:srgbClr val="273239"/>
                </a:solidFill>
                <a:latin typeface="Nunito"/>
                <a:hlinkClick r:id="rId5"/>
              </a:rPr>
              <a:t>erase( </a:t>
            </a:r>
            <a:r>
              <a:rPr lang="es-ES" u="sng" dirty="0">
                <a:solidFill>
                  <a:srgbClr val="273239"/>
                </a:solidFill>
                <a:latin typeface="Nunito"/>
                <a:hlinkClick r:id="rId5"/>
              </a:rPr>
              <a:t>)</a:t>
            </a:r>
            <a:r>
              <a:rPr lang="es-ES" dirty="0">
                <a:solidFill>
                  <a:srgbClr val="273239"/>
                </a:solidFill>
                <a:latin typeface="Nunito"/>
              </a:rPr>
              <a:t>: Elimina el índice o los datos especificados</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smtClean="0">
                <a:solidFill>
                  <a:srgbClr val="273239"/>
                </a:solidFill>
                <a:latin typeface="Nunito"/>
                <a:hlinkClick r:id="rId4"/>
              </a:rPr>
              <a:t>empty</a:t>
            </a:r>
            <a:r>
              <a:rPr lang="es-ES" u="sng" dirty="0" smtClean="0">
                <a:solidFill>
                  <a:srgbClr val="273239"/>
                </a:solidFill>
                <a:latin typeface="Nunito"/>
                <a:hlinkClick r:id="rId4"/>
              </a:rPr>
              <a:t>( </a:t>
            </a:r>
            <a:r>
              <a:rPr lang="es-ES" u="sng" dirty="0">
                <a:solidFill>
                  <a:srgbClr val="273239"/>
                </a:solidFill>
                <a:latin typeface="Nunito"/>
                <a:hlinkClick r:id="rId4"/>
              </a:rPr>
              <a:t>)</a:t>
            </a:r>
            <a:r>
              <a:rPr lang="es-ES" dirty="0">
                <a:solidFill>
                  <a:srgbClr val="273239"/>
                </a:solidFill>
                <a:latin typeface="Nunito"/>
              </a:rPr>
              <a:t>: Devuelve el valor booleano Verdadero si el vector está vacío, de lo contrario devuelve Falso</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a:solidFill>
                  <a:srgbClr val="273239"/>
                </a:solidFill>
                <a:latin typeface="Nunito"/>
                <a:hlinkClick r:id="rId6"/>
              </a:rPr>
              <a:t>Iterator</a:t>
            </a:r>
            <a:r>
              <a:rPr lang="es-ES" u="sng" dirty="0">
                <a:solidFill>
                  <a:srgbClr val="273239"/>
                </a:solidFill>
                <a:latin typeface="Nunito"/>
                <a:hlinkClick r:id="rId6"/>
              </a:rPr>
              <a:t> </a:t>
            </a:r>
            <a:r>
              <a:rPr lang="es-ES" u="sng" dirty="0" err="1">
                <a:solidFill>
                  <a:srgbClr val="273239"/>
                </a:solidFill>
                <a:latin typeface="Nunito"/>
                <a:hlinkClick r:id="rId6"/>
              </a:rPr>
              <a:t>lower_bound</a:t>
            </a:r>
            <a:r>
              <a:rPr lang="es-ES" dirty="0">
                <a:solidFill>
                  <a:srgbClr val="273239"/>
                </a:solidFill>
                <a:latin typeface="Nunito"/>
              </a:rPr>
              <a:t>( </a:t>
            </a:r>
            <a:r>
              <a:rPr lang="es-ES" dirty="0" err="1">
                <a:solidFill>
                  <a:srgbClr val="273239"/>
                </a:solidFill>
                <a:latin typeface="Nunito"/>
              </a:rPr>
              <a:t>Iterator</a:t>
            </a:r>
            <a:r>
              <a:rPr lang="es-ES" dirty="0">
                <a:solidFill>
                  <a:srgbClr val="273239"/>
                </a:solidFill>
                <a:latin typeface="Nunito"/>
              </a:rPr>
              <a:t> primero, </a:t>
            </a:r>
            <a:r>
              <a:rPr lang="es-ES" dirty="0" err="1">
                <a:solidFill>
                  <a:srgbClr val="273239"/>
                </a:solidFill>
                <a:latin typeface="Nunito"/>
              </a:rPr>
              <a:t>Iterator</a:t>
            </a:r>
            <a:r>
              <a:rPr lang="es-ES" dirty="0">
                <a:solidFill>
                  <a:srgbClr val="273239"/>
                </a:solidFill>
                <a:latin typeface="Nunito"/>
              </a:rPr>
              <a:t> último, </a:t>
            </a:r>
            <a:r>
              <a:rPr lang="es-ES" dirty="0" err="1">
                <a:solidFill>
                  <a:srgbClr val="273239"/>
                </a:solidFill>
                <a:latin typeface="Nunito"/>
              </a:rPr>
              <a:t>const</a:t>
            </a:r>
            <a:r>
              <a:rPr lang="es-ES" dirty="0">
                <a:solidFill>
                  <a:srgbClr val="273239"/>
                </a:solidFill>
                <a:latin typeface="Nunito"/>
              </a:rPr>
              <a:t> val ): </a:t>
            </a:r>
            <a:r>
              <a:rPr lang="es-ES" dirty="0" err="1">
                <a:solidFill>
                  <a:srgbClr val="273239"/>
                </a:solidFill>
                <a:latin typeface="Nunito"/>
              </a:rPr>
              <a:t>blow_bound</a:t>
            </a:r>
            <a:r>
              <a:rPr lang="es-ES" dirty="0">
                <a:solidFill>
                  <a:srgbClr val="273239"/>
                </a:solidFill>
                <a:latin typeface="Nunito"/>
              </a:rPr>
              <a:t> devuelve un </a:t>
            </a:r>
            <a:r>
              <a:rPr lang="es-ES" dirty="0" err="1">
                <a:solidFill>
                  <a:srgbClr val="273239"/>
                </a:solidFill>
                <a:latin typeface="Nunito"/>
              </a:rPr>
              <a:t>iterador</a:t>
            </a:r>
            <a:r>
              <a:rPr lang="es-ES" dirty="0">
                <a:solidFill>
                  <a:srgbClr val="273239"/>
                </a:solidFill>
                <a:latin typeface="Nunito"/>
              </a:rPr>
              <a:t> que apunta al primer elemento en el rango [ primero, último ) que tiene un valor no menor que ‘ val </a:t>
            </a:r>
            <a:r>
              <a:rPr lang="es-ES" dirty="0" smtClean="0">
                <a:solidFill>
                  <a:srgbClr val="273239"/>
                </a:solidFill>
                <a:latin typeface="Nunito"/>
              </a:rPr>
              <a:t>’.</a:t>
            </a:r>
          </a:p>
          <a:p>
            <a:pPr fontAlgn="base">
              <a:buFont typeface="+mj-lt"/>
              <a:buAutoNum type="arabicPeriod"/>
            </a:pPr>
            <a:endParaRPr lang="es-ES" dirty="0">
              <a:solidFill>
                <a:srgbClr val="273239"/>
              </a:solidFill>
              <a:latin typeface="Nunito"/>
            </a:endParaRPr>
          </a:p>
          <a:p>
            <a:pPr fontAlgn="base">
              <a:buFont typeface="+mj-lt"/>
              <a:buAutoNum type="arabicPeriod"/>
            </a:pPr>
            <a:r>
              <a:rPr lang="es-ES" u="sng" dirty="0" err="1">
                <a:solidFill>
                  <a:srgbClr val="273239"/>
                </a:solidFill>
                <a:latin typeface="Nunito"/>
                <a:hlinkClick r:id="rId7"/>
              </a:rPr>
              <a:t>Iterator</a:t>
            </a:r>
            <a:r>
              <a:rPr lang="es-ES" u="sng" dirty="0">
                <a:solidFill>
                  <a:srgbClr val="273239"/>
                </a:solidFill>
                <a:latin typeface="Nunito"/>
                <a:hlinkClick r:id="rId7"/>
              </a:rPr>
              <a:t> </a:t>
            </a:r>
            <a:r>
              <a:rPr lang="es-ES" u="sng" dirty="0" err="1">
                <a:solidFill>
                  <a:srgbClr val="273239"/>
                </a:solidFill>
                <a:latin typeface="Nunito"/>
                <a:hlinkClick r:id="rId7"/>
              </a:rPr>
              <a:t>upper_bound</a:t>
            </a:r>
            <a:r>
              <a:rPr lang="es-ES" dirty="0">
                <a:solidFill>
                  <a:srgbClr val="273239"/>
                </a:solidFill>
                <a:latin typeface="Nunito"/>
              </a:rPr>
              <a:t>( </a:t>
            </a:r>
            <a:r>
              <a:rPr lang="es-ES" dirty="0" err="1">
                <a:solidFill>
                  <a:srgbClr val="273239"/>
                </a:solidFill>
                <a:latin typeface="Nunito"/>
              </a:rPr>
              <a:t>Iterator</a:t>
            </a:r>
            <a:r>
              <a:rPr lang="es-ES" dirty="0">
                <a:solidFill>
                  <a:srgbClr val="273239"/>
                </a:solidFill>
                <a:latin typeface="Nunito"/>
              </a:rPr>
              <a:t> primero, </a:t>
            </a:r>
            <a:r>
              <a:rPr lang="es-ES" dirty="0" err="1">
                <a:solidFill>
                  <a:srgbClr val="273239"/>
                </a:solidFill>
                <a:latin typeface="Nunito"/>
              </a:rPr>
              <a:t>Iterator</a:t>
            </a:r>
            <a:r>
              <a:rPr lang="es-ES" dirty="0">
                <a:solidFill>
                  <a:srgbClr val="273239"/>
                </a:solidFill>
                <a:latin typeface="Nunito"/>
              </a:rPr>
              <a:t> último, </a:t>
            </a:r>
            <a:r>
              <a:rPr lang="es-ES" dirty="0" err="1">
                <a:solidFill>
                  <a:srgbClr val="273239"/>
                </a:solidFill>
                <a:latin typeface="Nunito"/>
              </a:rPr>
              <a:t>const</a:t>
            </a:r>
            <a:r>
              <a:rPr lang="es-ES" dirty="0">
                <a:solidFill>
                  <a:srgbClr val="273239"/>
                </a:solidFill>
                <a:latin typeface="Nunito"/>
              </a:rPr>
              <a:t> val ): </a:t>
            </a:r>
            <a:r>
              <a:rPr lang="es-ES" dirty="0" err="1">
                <a:solidFill>
                  <a:srgbClr val="273239"/>
                </a:solidFill>
                <a:latin typeface="Nunito"/>
              </a:rPr>
              <a:t>upper_bound</a:t>
            </a:r>
            <a:r>
              <a:rPr lang="es-ES" dirty="0">
                <a:solidFill>
                  <a:srgbClr val="273239"/>
                </a:solidFill>
                <a:latin typeface="Nunito"/>
              </a:rPr>
              <a:t> devuelve un </a:t>
            </a:r>
            <a:r>
              <a:rPr lang="es-ES" dirty="0" err="1">
                <a:solidFill>
                  <a:srgbClr val="273239"/>
                </a:solidFill>
                <a:latin typeface="Nunito"/>
              </a:rPr>
              <a:t>iterador</a:t>
            </a:r>
            <a:r>
              <a:rPr lang="es-ES" dirty="0">
                <a:solidFill>
                  <a:srgbClr val="273239"/>
                </a:solidFill>
                <a:latin typeface="Nunito"/>
              </a:rPr>
              <a:t> que apunta al primer elemento en el rango [ primero, último ) que tiene un valor mayor que </a:t>
            </a:r>
            <a:r>
              <a:rPr lang="es-ES" b="1" dirty="0">
                <a:solidFill>
                  <a:srgbClr val="273239"/>
                </a:solidFill>
                <a:latin typeface="Nunito"/>
              </a:rPr>
              <a:t>‘ val ’.</a:t>
            </a:r>
            <a:endParaRPr lang="es-ES" b="0" i="0" dirty="0">
              <a:solidFill>
                <a:srgbClr val="273239"/>
              </a:solidFill>
              <a:effectLst/>
              <a:latin typeface="Nunito"/>
            </a:endParaRPr>
          </a:p>
        </p:txBody>
      </p:sp>
      <p:sp>
        <p:nvSpPr>
          <p:cNvPr id="4"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23928179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auto">
          <a:xfrm>
            <a:off x="6136773" y="189165"/>
            <a:ext cx="6360027"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a:t>
            </a:r>
            <a:r>
              <a:rPr lang="es-UY" b="1" dirty="0" err="1">
                <a:solidFill>
                  <a:schemeClr val="bg1"/>
                </a:solidFill>
                <a:latin typeface="+mn-lt"/>
              </a:rPr>
              <a:t>include</a:t>
            </a:r>
            <a:r>
              <a:rPr lang="es-UY" b="1" dirty="0">
                <a:solidFill>
                  <a:schemeClr val="bg1"/>
                </a:solidFill>
                <a:latin typeface="+mn-lt"/>
              </a:rPr>
              <a:t>&lt;</a:t>
            </a:r>
            <a:r>
              <a:rPr lang="es-UY" b="1" dirty="0" err="1">
                <a:solidFill>
                  <a:schemeClr val="bg1"/>
                </a:solidFill>
                <a:latin typeface="+mn-lt"/>
              </a:rPr>
              <a:t>iostream</a:t>
            </a:r>
            <a:r>
              <a:rPr lang="es-UY" b="1" dirty="0">
                <a:solidFill>
                  <a:schemeClr val="bg1"/>
                </a:solidFill>
                <a:latin typeface="+mn-lt"/>
              </a:rPr>
              <a:t>&gt;</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a:t>
            </a:r>
            <a:r>
              <a:rPr lang="es-UY" b="1" dirty="0" err="1">
                <a:solidFill>
                  <a:schemeClr val="bg1"/>
                </a:solidFill>
                <a:latin typeface="+mn-lt"/>
              </a:rPr>
              <a:t>include</a:t>
            </a:r>
            <a:r>
              <a:rPr lang="es-UY" b="1" dirty="0">
                <a:solidFill>
                  <a:schemeClr val="bg1"/>
                </a:solidFill>
                <a:latin typeface="+mn-lt"/>
              </a:rPr>
              <a:t>&lt;</a:t>
            </a:r>
            <a:r>
              <a:rPr lang="es-UY" b="1" dirty="0" err="1">
                <a:solidFill>
                  <a:schemeClr val="bg1"/>
                </a:solidFill>
                <a:latin typeface="+mn-lt"/>
              </a:rPr>
              <a:t>iterator</a:t>
            </a:r>
            <a:r>
              <a:rPr lang="es-UY" b="1" dirty="0">
                <a:solidFill>
                  <a:schemeClr val="bg1"/>
                </a:solidFill>
                <a:latin typeface="+mn-lt"/>
              </a:rPr>
              <a:t>&gt; // </a:t>
            </a:r>
            <a:r>
              <a:rPr lang="es-UY" b="1" dirty="0" err="1">
                <a:solidFill>
                  <a:schemeClr val="bg1"/>
                </a:solidFill>
                <a:latin typeface="+mn-lt"/>
              </a:rPr>
              <a:t>for</a:t>
            </a:r>
            <a:r>
              <a:rPr lang="es-UY" b="1" dirty="0">
                <a:solidFill>
                  <a:schemeClr val="bg1"/>
                </a:solidFill>
                <a:latin typeface="+mn-lt"/>
              </a:rPr>
              <a:t> </a:t>
            </a:r>
            <a:r>
              <a:rPr lang="es-UY" b="1" dirty="0" err="1">
                <a:solidFill>
                  <a:schemeClr val="bg1"/>
                </a:solidFill>
                <a:latin typeface="+mn-lt"/>
              </a:rPr>
              <a:t>iterators</a:t>
            </a:r>
            <a:endParaRPr lang="es-UY" b="1" dirty="0">
              <a:solidFill>
                <a:schemeClr val="bg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a:t>
            </a:r>
            <a:r>
              <a:rPr lang="es-UY" b="1" dirty="0" err="1">
                <a:solidFill>
                  <a:schemeClr val="bg1"/>
                </a:solidFill>
                <a:latin typeface="+mn-lt"/>
              </a:rPr>
              <a:t>include</a:t>
            </a:r>
            <a:r>
              <a:rPr lang="es-UY" b="1" dirty="0">
                <a:solidFill>
                  <a:schemeClr val="bg1"/>
                </a:solidFill>
                <a:latin typeface="+mn-lt"/>
              </a:rPr>
              <a:t>&lt;vector&gt; // </a:t>
            </a:r>
            <a:r>
              <a:rPr lang="es-UY" b="1" dirty="0" err="1">
                <a:solidFill>
                  <a:schemeClr val="bg1"/>
                </a:solidFill>
                <a:latin typeface="+mn-lt"/>
              </a:rPr>
              <a:t>for</a:t>
            </a:r>
            <a:r>
              <a:rPr lang="es-UY" b="1" dirty="0">
                <a:solidFill>
                  <a:schemeClr val="bg1"/>
                </a:solidFill>
                <a:latin typeface="+mn-lt"/>
              </a:rPr>
              <a:t> </a:t>
            </a:r>
            <a:r>
              <a:rPr lang="es-UY" b="1" dirty="0" err="1" smtClean="0">
                <a:solidFill>
                  <a:schemeClr val="bg1"/>
                </a:solidFill>
                <a:latin typeface="+mn-lt"/>
              </a:rPr>
              <a:t>vectors</a:t>
            </a:r>
            <a:endParaRPr lang="es-UY" b="1" dirty="0" smtClean="0">
              <a:solidFill>
                <a:schemeClr val="bg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endParaRPr lang="es-UY" b="1" dirty="0">
              <a:solidFill>
                <a:schemeClr val="bg1"/>
              </a:solidFill>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lang="es-UY" b="1" dirty="0" err="1">
                <a:solidFill>
                  <a:schemeClr val="bg1"/>
                </a:solidFill>
                <a:latin typeface="+mn-lt"/>
              </a:rPr>
              <a:t>using</a:t>
            </a:r>
            <a:r>
              <a:rPr lang="es-UY" b="1" dirty="0">
                <a:solidFill>
                  <a:schemeClr val="bg1"/>
                </a:solidFill>
                <a:latin typeface="+mn-lt"/>
              </a:rPr>
              <a:t> </a:t>
            </a:r>
            <a:r>
              <a:rPr lang="es-UY" b="1" dirty="0" err="1">
                <a:solidFill>
                  <a:schemeClr val="bg1"/>
                </a:solidFill>
                <a:latin typeface="+mn-lt"/>
              </a:rPr>
              <a:t>namespace</a:t>
            </a:r>
            <a:r>
              <a:rPr lang="es-UY" b="1" dirty="0">
                <a:solidFill>
                  <a:schemeClr val="bg1"/>
                </a:solidFill>
                <a:latin typeface="+mn-lt"/>
              </a:rPr>
              <a:t> </a:t>
            </a:r>
            <a:r>
              <a:rPr lang="es-UY" b="1" dirty="0" err="1">
                <a:solidFill>
                  <a:schemeClr val="bg1"/>
                </a:solidFill>
                <a:latin typeface="+mn-lt"/>
              </a:rPr>
              <a:t>std</a:t>
            </a:r>
            <a:r>
              <a:rPr lang="es-UY" b="1" dirty="0">
                <a:solidFill>
                  <a:schemeClr val="bg1"/>
                </a:solidFill>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err="1">
                <a:solidFill>
                  <a:schemeClr val="bg1"/>
                </a:solidFill>
                <a:latin typeface="+mn-lt"/>
              </a:rPr>
              <a:t>int</a:t>
            </a:r>
            <a:r>
              <a:rPr lang="es-UY" b="1" dirty="0">
                <a:solidFill>
                  <a:schemeClr val="bg1"/>
                </a:solidFill>
                <a:latin typeface="+mn-lt"/>
              </a:rPr>
              <a:t> </a:t>
            </a:r>
            <a:r>
              <a:rPr lang="es-UY" b="1" dirty="0" err="1">
                <a:solidFill>
                  <a:schemeClr val="bg1"/>
                </a:solidFill>
                <a:latin typeface="+mn-lt"/>
              </a:rPr>
              <a:t>main</a:t>
            </a:r>
            <a:r>
              <a:rPr lang="es-UY" b="1" dirty="0">
                <a:solidFill>
                  <a:schemeClr val="bg1"/>
                </a:solidFill>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vector&lt;</a:t>
            </a:r>
            <a:r>
              <a:rPr lang="es-UY" b="1" dirty="0" err="1">
                <a:solidFill>
                  <a:schemeClr val="bg1"/>
                </a:solidFill>
                <a:latin typeface="+mn-lt"/>
              </a:rPr>
              <a:t>int</a:t>
            </a:r>
            <a:r>
              <a:rPr lang="es-UY" b="1" dirty="0">
                <a:solidFill>
                  <a:schemeClr val="bg1"/>
                </a:solidFill>
                <a:latin typeface="+mn-lt"/>
              </a:rPr>
              <a:t>&gt; </a:t>
            </a:r>
            <a:r>
              <a:rPr lang="es-UY" b="1" dirty="0" err="1">
                <a:solidFill>
                  <a:schemeClr val="bg1"/>
                </a:solidFill>
                <a:latin typeface="+mn-lt"/>
              </a:rPr>
              <a:t>ar</a:t>
            </a:r>
            <a:r>
              <a:rPr lang="es-UY" b="1" dirty="0">
                <a:solidFill>
                  <a:schemeClr val="bg1"/>
                </a:solidFill>
                <a:latin typeface="+mn-lt"/>
              </a:rPr>
              <a:t> = { 1, 2, 3, 4, 5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 </a:t>
            </a:r>
            <a:r>
              <a:rPr lang="es-UY" b="1" dirty="0" err="1">
                <a:solidFill>
                  <a:schemeClr val="bg1"/>
                </a:solidFill>
                <a:latin typeface="+mn-lt"/>
              </a:rPr>
              <a:t>Declaring</a:t>
            </a:r>
            <a:r>
              <a:rPr lang="es-UY" b="1" dirty="0">
                <a:solidFill>
                  <a:schemeClr val="bg1"/>
                </a:solidFill>
                <a:latin typeface="+mn-lt"/>
              </a:rPr>
              <a:t> </a:t>
            </a:r>
            <a:r>
              <a:rPr lang="es-UY" b="1" dirty="0" err="1">
                <a:solidFill>
                  <a:schemeClr val="bg1"/>
                </a:solidFill>
                <a:latin typeface="+mn-lt"/>
              </a:rPr>
              <a:t>iterator</a:t>
            </a:r>
            <a:r>
              <a:rPr lang="es-UY" b="1" dirty="0">
                <a:solidFill>
                  <a:schemeClr val="bg1"/>
                </a:solidFill>
                <a:latin typeface="+mn-lt"/>
              </a:rPr>
              <a:t> </a:t>
            </a:r>
            <a:r>
              <a:rPr lang="es-UY" b="1" dirty="0" err="1">
                <a:solidFill>
                  <a:schemeClr val="bg1"/>
                </a:solidFill>
                <a:latin typeface="+mn-lt"/>
              </a:rPr>
              <a:t>to</a:t>
            </a:r>
            <a:r>
              <a:rPr lang="es-UY" b="1" dirty="0">
                <a:solidFill>
                  <a:schemeClr val="bg1"/>
                </a:solidFill>
                <a:latin typeface="+mn-lt"/>
              </a:rPr>
              <a:t> a vector</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vector&lt;</a:t>
            </a:r>
            <a:r>
              <a:rPr lang="es-UY" b="1" dirty="0" err="1">
                <a:solidFill>
                  <a:schemeClr val="bg1"/>
                </a:solidFill>
                <a:latin typeface="+mn-lt"/>
              </a:rPr>
              <a:t>int</a:t>
            </a:r>
            <a:r>
              <a:rPr lang="es-UY" b="1" dirty="0">
                <a:solidFill>
                  <a:schemeClr val="bg1"/>
                </a:solidFill>
                <a:latin typeface="+mn-lt"/>
              </a:rPr>
              <a:t>&gt;::</a:t>
            </a:r>
            <a:r>
              <a:rPr lang="es-UY" b="1" dirty="0" err="1">
                <a:solidFill>
                  <a:schemeClr val="bg1"/>
                </a:solidFill>
                <a:latin typeface="+mn-lt"/>
              </a:rPr>
              <a:t>iterator</a:t>
            </a:r>
            <a:r>
              <a:rPr lang="es-UY" b="1" dirty="0">
                <a:solidFill>
                  <a:schemeClr val="bg1"/>
                </a:solidFill>
                <a:latin typeface="+mn-lt"/>
              </a:rPr>
              <a:t> </a:t>
            </a:r>
            <a:r>
              <a:rPr lang="es-UY" b="1" dirty="0" err="1">
                <a:solidFill>
                  <a:schemeClr val="bg1"/>
                </a:solidFill>
                <a:latin typeface="+mn-lt"/>
              </a:rPr>
              <a:t>ptr</a:t>
            </a:r>
            <a:r>
              <a:rPr lang="es-UY" b="1" dirty="0">
                <a:solidFill>
                  <a:schemeClr val="bg1"/>
                </a:solidFill>
                <a:latin typeface="+mn-lt"/>
              </a:rPr>
              <a:t> = </a:t>
            </a:r>
            <a:r>
              <a:rPr lang="es-UY" b="1" dirty="0" err="1">
                <a:solidFill>
                  <a:schemeClr val="bg1"/>
                </a:solidFill>
                <a:latin typeface="+mn-lt"/>
              </a:rPr>
              <a:t>ar.begin</a:t>
            </a:r>
            <a:r>
              <a:rPr lang="es-UY" b="1" dirty="0">
                <a:solidFill>
                  <a:schemeClr val="bg1"/>
                </a:solidFill>
                <a:latin typeface="+mn-lt"/>
              </a:rPr>
              <a:t>();</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 </a:t>
            </a:r>
            <a:r>
              <a:rPr lang="es-UY" b="1" dirty="0" err="1">
                <a:solidFill>
                  <a:schemeClr val="bg1"/>
                </a:solidFill>
                <a:latin typeface="+mn-lt"/>
              </a:rPr>
              <a:t>Using</a:t>
            </a:r>
            <a:r>
              <a:rPr lang="es-UY" b="1" dirty="0">
                <a:solidFill>
                  <a:schemeClr val="bg1"/>
                </a:solidFill>
                <a:latin typeface="+mn-lt"/>
              </a:rPr>
              <a:t> </a:t>
            </a:r>
            <a:r>
              <a:rPr lang="es-UY" b="1" dirty="0" err="1">
                <a:solidFill>
                  <a:schemeClr val="bg1"/>
                </a:solidFill>
                <a:latin typeface="+mn-lt"/>
              </a:rPr>
              <a:t>advance</a:t>
            </a:r>
            <a:r>
              <a:rPr lang="es-UY" b="1" dirty="0">
                <a:solidFill>
                  <a:schemeClr val="bg1"/>
                </a:solidFill>
                <a:latin typeface="+mn-lt"/>
              </a:rPr>
              <a:t>() </a:t>
            </a:r>
            <a:r>
              <a:rPr lang="es-UY" b="1" dirty="0" err="1">
                <a:solidFill>
                  <a:schemeClr val="bg1"/>
                </a:solidFill>
                <a:latin typeface="+mn-lt"/>
              </a:rPr>
              <a:t>to</a:t>
            </a:r>
            <a:r>
              <a:rPr lang="es-UY" b="1" dirty="0">
                <a:solidFill>
                  <a:schemeClr val="bg1"/>
                </a:solidFill>
                <a:latin typeface="+mn-lt"/>
              </a:rPr>
              <a:t> </a:t>
            </a:r>
            <a:r>
              <a:rPr lang="es-UY" b="1" dirty="0" err="1">
                <a:solidFill>
                  <a:schemeClr val="bg1"/>
                </a:solidFill>
                <a:latin typeface="+mn-lt"/>
              </a:rPr>
              <a:t>increment</a:t>
            </a:r>
            <a:r>
              <a:rPr lang="es-UY" b="1" dirty="0">
                <a:solidFill>
                  <a:schemeClr val="bg1"/>
                </a:solidFill>
                <a:latin typeface="+mn-lt"/>
              </a:rPr>
              <a:t> </a:t>
            </a:r>
            <a:r>
              <a:rPr lang="es-UY" b="1" dirty="0" err="1">
                <a:solidFill>
                  <a:schemeClr val="bg1"/>
                </a:solidFill>
                <a:latin typeface="+mn-lt"/>
              </a:rPr>
              <a:t>iterator</a:t>
            </a:r>
            <a:r>
              <a:rPr lang="es-UY" b="1" dirty="0">
                <a:solidFill>
                  <a:schemeClr val="bg1"/>
                </a:solidFill>
                <a:latin typeface="+mn-lt"/>
              </a:rPr>
              <a:t> position</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 </a:t>
            </a:r>
            <a:r>
              <a:rPr lang="es-UY" b="1" dirty="0" err="1">
                <a:solidFill>
                  <a:schemeClr val="bg1"/>
                </a:solidFill>
                <a:latin typeface="+mn-lt"/>
              </a:rPr>
              <a:t>points</a:t>
            </a:r>
            <a:r>
              <a:rPr lang="es-UY" b="1" dirty="0">
                <a:solidFill>
                  <a:schemeClr val="bg1"/>
                </a:solidFill>
                <a:latin typeface="+mn-lt"/>
              </a:rPr>
              <a:t> </a:t>
            </a:r>
            <a:r>
              <a:rPr lang="es-UY" b="1" dirty="0" err="1">
                <a:solidFill>
                  <a:schemeClr val="bg1"/>
                </a:solidFill>
                <a:latin typeface="+mn-lt"/>
              </a:rPr>
              <a:t>to</a:t>
            </a:r>
            <a:r>
              <a:rPr lang="es-UY" b="1" dirty="0">
                <a:solidFill>
                  <a:schemeClr val="bg1"/>
                </a:solidFill>
                <a:latin typeface="+mn-lt"/>
              </a:rPr>
              <a:t> 4</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r>
              <a:rPr lang="es-UY" b="1" dirty="0" err="1">
                <a:solidFill>
                  <a:schemeClr val="bg1"/>
                </a:solidFill>
                <a:latin typeface="+mn-lt"/>
              </a:rPr>
              <a:t>advance</a:t>
            </a:r>
            <a:r>
              <a:rPr lang="es-UY" b="1" dirty="0">
                <a:solidFill>
                  <a:schemeClr val="bg1"/>
                </a:solidFill>
                <a:latin typeface="+mn-lt"/>
              </a:rPr>
              <a:t>(</a:t>
            </a:r>
            <a:r>
              <a:rPr lang="es-UY" b="1" dirty="0" err="1">
                <a:solidFill>
                  <a:schemeClr val="bg1"/>
                </a:solidFill>
                <a:latin typeface="+mn-lt"/>
              </a:rPr>
              <a:t>ptr</a:t>
            </a:r>
            <a:r>
              <a:rPr lang="es-UY" b="1" dirty="0">
                <a:solidFill>
                  <a:schemeClr val="bg1"/>
                </a:solidFill>
                <a:latin typeface="+mn-lt"/>
              </a:rPr>
              <a:t>, 3);</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 </a:t>
            </a:r>
            <a:r>
              <a:rPr lang="es-UY" b="1" dirty="0" err="1">
                <a:solidFill>
                  <a:schemeClr val="bg1"/>
                </a:solidFill>
                <a:latin typeface="+mn-lt"/>
              </a:rPr>
              <a:t>Displaying</a:t>
            </a:r>
            <a:r>
              <a:rPr lang="es-UY" b="1" dirty="0">
                <a:solidFill>
                  <a:schemeClr val="bg1"/>
                </a:solidFill>
                <a:latin typeface="+mn-lt"/>
              </a:rPr>
              <a:t> </a:t>
            </a:r>
            <a:r>
              <a:rPr lang="es-UY" b="1" dirty="0" err="1">
                <a:solidFill>
                  <a:schemeClr val="bg1"/>
                </a:solidFill>
                <a:latin typeface="+mn-lt"/>
              </a:rPr>
              <a:t>iterator</a:t>
            </a:r>
            <a:r>
              <a:rPr lang="es-UY" b="1" dirty="0">
                <a:solidFill>
                  <a:schemeClr val="bg1"/>
                </a:solidFill>
                <a:latin typeface="+mn-lt"/>
              </a:rPr>
              <a:t> position</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r>
              <a:rPr lang="es-UY" b="1" dirty="0" err="1">
                <a:solidFill>
                  <a:schemeClr val="bg1"/>
                </a:solidFill>
                <a:latin typeface="+mn-lt"/>
              </a:rPr>
              <a:t>cout</a:t>
            </a:r>
            <a:r>
              <a:rPr lang="es-UY" b="1" dirty="0">
                <a:solidFill>
                  <a:schemeClr val="bg1"/>
                </a:solidFill>
                <a:latin typeface="+mn-lt"/>
              </a:rPr>
              <a:t> &lt;&lt; "</a:t>
            </a:r>
            <a:r>
              <a:rPr lang="es-UY" b="1" dirty="0" err="1">
                <a:solidFill>
                  <a:schemeClr val="bg1"/>
                </a:solidFill>
                <a:latin typeface="+mn-lt"/>
              </a:rPr>
              <a:t>The</a:t>
            </a:r>
            <a:r>
              <a:rPr lang="es-UY" b="1" dirty="0">
                <a:solidFill>
                  <a:schemeClr val="bg1"/>
                </a:solidFill>
                <a:latin typeface="+mn-lt"/>
              </a:rPr>
              <a:t> position of </a:t>
            </a:r>
            <a:r>
              <a:rPr lang="es-UY" b="1" dirty="0" err="1">
                <a:solidFill>
                  <a:schemeClr val="bg1"/>
                </a:solidFill>
                <a:latin typeface="+mn-lt"/>
              </a:rPr>
              <a:t>iterator</a:t>
            </a:r>
            <a:r>
              <a:rPr lang="es-UY" b="1" dirty="0">
                <a:solidFill>
                  <a:schemeClr val="bg1"/>
                </a:solidFill>
                <a:latin typeface="+mn-lt"/>
              </a:rPr>
              <a:t> </a:t>
            </a:r>
            <a:r>
              <a:rPr lang="es-UY" b="1" dirty="0" err="1">
                <a:solidFill>
                  <a:schemeClr val="bg1"/>
                </a:solidFill>
                <a:latin typeface="+mn-lt"/>
              </a:rPr>
              <a:t>after</a:t>
            </a:r>
            <a:r>
              <a:rPr lang="es-UY" b="1" dirty="0">
                <a:solidFill>
                  <a:schemeClr val="bg1"/>
                </a:solidFill>
                <a:latin typeface="+mn-lt"/>
              </a:rPr>
              <a:t> </a:t>
            </a:r>
            <a:r>
              <a:rPr lang="es-UY" b="1" dirty="0" err="1">
                <a:solidFill>
                  <a:schemeClr val="bg1"/>
                </a:solidFill>
                <a:latin typeface="+mn-lt"/>
              </a:rPr>
              <a:t>advancing</a:t>
            </a:r>
            <a:r>
              <a:rPr lang="es-UY" b="1" dirty="0">
                <a:solidFill>
                  <a:schemeClr val="bg1"/>
                </a:solidFill>
                <a:latin typeface="+mn-lt"/>
              </a:rPr>
              <a:t> </a:t>
            </a:r>
            <a:r>
              <a:rPr lang="es-UY" b="1" dirty="0" err="1">
                <a:solidFill>
                  <a:schemeClr val="bg1"/>
                </a:solidFill>
                <a:latin typeface="+mn-lt"/>
              </a:rPr>
              <a:t>is</a:t>
            </a:r>
            <a:r>
              <a:rPr lang="es-UY" b="1" dirty="0">
                <a:solidFill>
                  <a:schemeClr val="bg1"/>
                </a:solidFill>
                <a:latin typeface="+mn-lt"/>
              </a:rPr>
              <a:t> :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r>
              <a:rPr lang="es-UY" b="1" dirty="0" err="1">
                <a:solidFill>
                  <a:schemeClr val="bg1"/>
                </a:solidFill>
                <a:latin typeface="+mn-lt"/>
              </a:rPr>
              <a:t>cout</a:t>
            </a:r>
            <a:r>
              <a:rPr lang="es-UY" b="1" dirty="0">
                <a:solidFill>
                  <a:schemeClr val="bg1"/>
                </a:solidFill>
                <a:latin typeface="+mn-lt"/>
              </a:rPr>
              <a:t> &lt;&lt; *</a:t>
            </a:r>
            <a:r>
              <a:rPr lang="es-UY" b="1" dirty="0" err="1">
                <a:solidFill>
                  <a:schemeClr val="bg1"/>
                </a:solidFill>
                <a:latin typeface="+mn-lt"/>
              </a:rPr>
              <a:t>ptr</a:t>
            </a:r>
            <a:r>
              <a:rPr lang="es-UY" b="1" dirty="0">
                <a:solidFill>
                  <a:schemeClr val="bg1"/>
                </a:solidFill>
                <a:latin typeface="+mn-lt"/>
              </a:rPr>
              <a:t> &lt;&lt; "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r>
              <a:rPr lang="es-UY" b="1" dirty="0" err="1">
                <a:solidFill>
                  <a:schemeClr val="bg1"/>
                </a:solidFill>
                <a:latin typeface="+mn-lt"/>
              </a:rPr>
              <a:t>return</a:t>
            </a:r>
            <a:r>
              <a:rPr lang="es-UY" b="1" dirty="0">
                <a:solidFill>
                  <a:schemeClr val="bg1"/>
                </a:solidFill>
                <a:latin typeface="+mn-lt"/>
              </a:rPr>
              <a:t> 0;</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lang="es-UY" b="1" dirty="0">
                <a:solidFill>
                  <a:schemeClr val="bg1"/>
                </a:solidFill>
                <a:latin typeface="+mn-lt"/>
              </a:rPr>
              <a:t>}</a:t>
            </a:r>
          </a:p>
        </p:txBody>
      </p:sp>
      <p:sp>
        <p:nvSpPr>
          <p:cNvPr id="3" name="Rectangle 3"/>
          <p:cNvSpPr>
            <a:spLocks noChangeArrowheads="1"/>
          </p:cNvSpPr>
          <p:nvPr/>
        </p:nvSpPr>
        <p:spPr bwMode="auto">
          <a:xfrm>
            <a:off x="355600" y="1285875"/>
            <a:ext cx="4940300"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defTabSz="457200" eaLnBrk="1" fontAlgn="base" hangingPunct="1">
              <a:lnSpc>
                <a:spcPct val="100000"/>
              </a:lnSpc>
              <a:spcBef>
                <a:spcPct val="20000"/>
              </a:spcBef>
              <a:spcAft>
                <a:spcPts val="600"/>
              </a:spcAft>
              <a:buClr>
                <a:schemeClr val="tx1"/>
              </a:buClr>
              <a:buSzPct val="80000"/>
              <a:tabLst/>
            </a:pPr>
            <a:r>
              <a:rPr lang="es-ES" sz="2000" dirty="0">
                <a:solidFill>
                  <a:schemeClr val="bg2">
                    <a:lumMod val="75000"/>
                  </a:schemeClr>
                </a:solidFill>
                <a:latin typeface="+mn-lt"/>
              </a:rPr>
              <a:t>Los </a:t>
            </a:r>
            <a:r>
              <a:rPr lang="es-ES" sz="2000" dirty="0" err="1">
                <a:solidFill>
                  <a:schemeClr val="bg2">
                    <a:lumMod val="75000"/>
                  </a:schemeClr>
                </a:solidFill>
                <a:latin typeface="+mn-lt"/>
              </a:rPr>
              <a:t>iteradores</a:t>
            </a:r>
            <a:r>
              <a:rPr lang="es-ES" sz="2000" dirty="0">
                <a:solidFill>
                  <a:schemeClr val="bg2">
                    <a:lumMod val="75000"/>
                  </a:schemeClr>
                </a:solidFill>
                <a:latin typeface="+mn-lt"/>
              </a:rPr>
              <a:t> se utilizan para apuntar a las direcciones de memoria de los contenedores STL. Se utilizan principalmente en secuencias de números, caracteres, etc. Reducen la complejidad y el tiempo de ejecución del programa.</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t/>
            </a:r>
            <a:br>
              <a:rPr kumimoji="0" lang="es-ES" b="0" i="0" u="none" strike="noStrike" cap="none" normalizeH="0" baseline="0" dirty="0" smtClean="0">
                <a:ln>
                  <a:noFill/>
                </a:ln>
                <a:solidFill>
                  <a:srgbClr val="202124"/>
                </a:solidFill>
                <a:effectLst/>
                <a:latin typeface="Arial" panose="020B0604020202020204" pitchFamily="34" charset="0"/>
                <a:cs typeface="Arial" panose="020B0604020202020204" pitchFamily="34" charset="0"/>
              </a:rPr>
            </a:br>
            <a:endParaRPr kumimoji="0" lang="es-ES" sz="1800" b="0" i="0" u="none" strike="noStrike" cap="none" normalizeH="0" baseline="0" dirty="0" smtClean="0">
              <a:ln>
                <a:noFill/>
              </a:ln>
              <a:solidFill>
                <a:schemeClr val="tx1"/>
              </a:solidFill>
              <a:effectLst/>
              <a:latin typeface="Arial" panose="020B0604020202020204" pitchFamily="34" charset="0"/>
            </a:endParaRPr>
          </a:p>
        </p:txBody>
      </p:sp>
      <p:sp>
        <p:nvSpPr>
          <p:cNvPr id="6" name="Content Placeholder 1"/>
          <p:cNvSpPr>
            <a:spLocks noGrp="1"/>
          </p:cNvSpPr>
          <p:nvPr>
            <p:ph idx="1"/>
          </p:nvPr>
        </p:nvSpPr>
        <p:spPr>
          <a:xfrm>
            <a:off x="266700" y="323850"/>
            <a:ext cx="3429000" cy="1924050"/>
          </a:xfrm>
        </p:spPr>
        <p:txBody>
          <a:bodyPr>
            <a:normAutofit/>
          </a:bodyPr>
          <a:lstStyle/>
          <a:p>
            <a:pPr marL="0" indent="0">
              <a:buNone/>
            </a:pPr>
            <a:r>
              <a:rPr lang="es-ES" sz="2400" b="1" dirty="0" err="1" smtClean="0"/>
              <a:t>Iteradores</a:t>
            </a:r>
            <a:endParaRPr lang="es-UY" sz="2400" b="1" dirty="0"/>
          </a:p>
          <a:p>
            <a:pPr marL="0" indent="0">
              <a:buNone/>
            </a:pPr>
            <a:endParaRPr lang="es-ES" dirty="0" smtClean="0"/>
          </a:p>
          <a:p>
            <a:endParaRPr lang="es-ES" dirty="0" smtClean="0"/>
          </a:p>
          <a:p>
            <a:pPr marL="1257300" lvl="3" indent="0">
              <a:buNone/>
            </a:pPr>
            <a:endParaRPr lang="es-ES" b="1" dirty="0" smtClean="0"/>
          </a:p>
        </p:txBody>
      </p:sp>
      <p:sp>
        <p:nvSpPr>
          <p:cNvPr id="5" name="Rectangle 4"/>
          <p:cNvSpPr/>
          <p:nvPr/>
        </p:nvSpPr>
        <p:spPr>
          <a:xfrm>
            <a:off x="266700" y="3612620"/>
            <a:ext cx="6096000" cy="1754326"/>
          </a:xfrm>
          <a:prstGeom prst="rect">
            <a:avLst/>
          </a:prstGeom>
        </p:spPr>
        <p:txBody>
          <a:bodyPr>
            <a:spAutoFit/>
          </a:bodyPr>
          <a:lstStyle/>
          <a:p>
            <a:pPr fontAlgn="base"/>
            <a:r>
              <a:rPr lang="en-US" b="1" dirty="0">
                <a:solidFill>
                  <a:srgbClr val="273239"/>
                </a:solidFill>
                <a:latin typeface="Nunito"/>
              </a:rPr>
              <a:t>Operations of </a:t>
            </a:r>
            <a:r>
              <a:rPr lang="en-US" b="1" dirty="0" smtClean="0">
                <a:solidFill>
                  <a:srgbClr val="273239"/>
                </a:solidFill>
                <a:latin typeface="Nunito"/>
              </a:rPr>
              <a:t>iterators</a:t>
            </a:r>
            <a:endParaRPr lang="en-US" dirty="0" smtClean="0">
              <a:solidFill>
                <a:srgbClr val="273239"/>
              </a:solidFill>
              <a:latin typeface="Nunito"/>
            </a:endParaRPr>
          </a:p>
          <a:p>
            <a:pPr fontAlgn="base"/>
            <a:endParaRPr lang="en-US" dirty="0">
              <a:solidFill>
                <a:srgbClr val="273239"/>
              </a:solidFill>
              <a:latin typeface="Nunito"/>
            </a:endParaRPr>
          </a:p>
          <a:p>
            <a:pPr fontAlgn="base"/>
            <a:r>
              <a:rPr lang="en-US" b="1" dirty="0">
                <a:solidFill>
                  <a:srgbClr val="273239"/>
                </a:solidFill>
                <a:latin typeface="Nunito"/>
              </a:rPr>
              <a:t>1. begin()</a:t>
            </a:r>
            <a:r>
              <a:rPr lang="en-US" dirty="0">
                <a:solidFill>
                  <a:srgbClr val="273239"/>
                </a:solidFill>
                <a:latin typeface="Nunito"/>
              </a:rPr>
              <a:t> :- </a:t>
            </a:r>
            <a:r>
              <a:rPr lang="en-US" dirty="0" err="1" smtClean="0">
                <a:solidFill>
                  <a:srgbClr val="273239"/>
                </a:solidFill>
                <a:latin typeface="Nunito"/>
              </a:rPr>
              <a:t>retorna</a:t>
            </a:r>
            <a:r>
              <a:rPr lang="en-US" dirty="0" smtClean="0">
                <a:solidFill>
                  <a:srgbClr val="273239"/>
                </a:solidFill>
                <a:latin typeface="Nunito"/>
              </a:rPr>
              <a:t> la </a:t>
            </a:r>
            <a:r>
              <a:rPr lang="en-US" dirty="0" err="1" smtClean="0">
                <a:solidFill>
                  <a:srgbClr val="273239"/>
                </a:solidFill>
                <a:latin typeface="Nunito"/>
              </a:rPr>
              <a:t>posicion</a:t>
            </a:r>
            <a:r>
              <a:rPr lang="en-US" dirty="0" smtClean="0">
                <a:solidFill>
                  <a:srgbClr val="273239"/>
                </a:solidFill>
                <a:latin typeface="Nunito"/>
              </a:rPr>
              <a:t> </a:t>
            </a:r>
            <a:r>
              <a:rPr lang="en-US" dirty="0" err="1" smtClean="0">
                <a:solidFill>
                  <a:srgbClr val="273239"/>
                </a:solidFill>
                <a:latin typeface="Nunito"/>
              </a:rPr>
              <a:t>inicial</a:t>
            </a:r>
            <a:r>
              <a:rPr lang="en-US" dirty="0" smtClean="0">
                <a:solidFill>
                  <a:srgbClr val="273239"/>
                </a:solidFill>
                <a:latin typeface="Nunito"/>
              </a:rPr>
              <a:t> del container.</a:t>
            </a:r>
            <a:endParaRPr lang="en-US" dirty="0">
              <a:solidFill>
                <a:srgbClr val="273239"/>
              </a:solidFill>
              <a:latin typeface="Nunito"/>
            </a:endParaRPr>
          </a:p>
          <a:p>
            <a:pPr fontAlgn="base"/>
            <a:r>
              <a:rPr lang="en-US" b="1" dirty="0">
                <a:solidFill>
                  <a:srgbClr val="273239"/>
                </a:solidFill>
                <a:latin typeface="Nunito"/>
              </a:rPr>
              <a:t>2. end()</a:t>
            </a:r>
            <a:r>
              <a:rPr lang="en-US" dirty="0">
                <a:solidFill>
                  <a:srgbClr val="273239"/>
                </a:solidFill>
                <a:latin typeface="Nunito"/>
              </a:rPr>
              <a:t> :- </a:t>
            </a:r>
            <a:r>
              <a:rPr lang="en-US" dirty="0" err="1">
                <a:solidFill>
                  <a:srgbClr val="273239"/>
                </a:solidFill>
                <a:latin typeface="Nunito"/>
              </a:rPr>
              <a:t>retorna</a:t>
            </a:r>
            <a:r>
              <a:rPr lang="en-US" dirty="0">
                <a:solidFill>
                  <a:srgbClr val="273239"/>
                </a:solidFill>
                <a:latin typeface="Nunito"/>
              </a:rPr>
              <a:t> la </a:t>
            </a:r>
            <a:r>
              <a:rPr lang="en-US" dirty="0" err="1">
                <a:solidFill>
                  <a:srgbClr val="273239"/>
                </a:solidFill>
                <a:latin typeface="Nunito"/>
              </a:rPr>
              <a:t>posicion</a:t>
            </a:r>
            <a:r>
              <a:rPr lang="en-US" dirty="0">
                <a:solidFill>
                  <a:srgbClr val="273239"/>
                </a:solidFill>
                <a:latin typeface="Nunito"/>
              </a:rPr>
              <a:t> </a:t>
            </a:r>
            <a:r>
              <a:rPr lang="en-US" dirty="0" smtClean="0">
                <a:solidFill>
                  <a:srgbClr val="273239"/>
                </a:solidFill>
                <a:latin typeface="Nunito"/>
              </a:rPr>
              <a:t>final del </a:t>
            </a:r>
            <a:r>
              <a:rPr lang="en-US" dirty="0">
                <a:solidFill>
                  <a:srgbClr val="273239"/>
                </a:solidFill>
                <a:latin typeface="Nunito"/>
              </a:rPr>
              <a:t>container</a:t>
            </a:r>
            <a:r>
              <a:rPr lang="en-US" dirty="0" smtClean="0">
                <a:solidFill>
                  <a:srgbClr val="273239"/>
                </a:solidFill>
                <a:latin typeface="Nunito"/>
              </a:rPr>
              <a:t>.</a:t>
            </a:r>
          </a:p>
          <a:p>
            <a:pPr fontAlgn="base"/>
            <a:endParaRPr lang="en-US" dirty="0" smtClean="0">
              <a:solidFill>
                <a:srgbClr val="273239"/>
              </a:solidFill>
              <a:latin typeface="Nunito"/>
            </a:endParaRPr>
          </a:p>
          <a:p>
            <a:pPr fontAlgn="base"/>
            <a:endParaRPr lang="en-US" b="0" i="0" dirty="0">
              <a:solidFill>
                <a:srgbClr val="273239"/>
              </a:solidFill>
              <a:effectLst/>
              <a:latin typeface="Nunito"/>
            </a:endParaRPr>
          </a:p>
        </p:txBody>
      </p:sp>
      <p:sp>
        <p:nvSpPr>
          <p:cNvPr id="7" name="Rectangle 6"/>
          <p:cNvSpPr/>
          <p:nvPr/>
        </p:nvSpPr>
        <p:spPr>
          <a:xfrm>
            <a:off x="266700" y="4730133"/>
            <a:ext cx="6096000" cy="646331"/>
          </a:xfrm>
          <a:prstGeom prst="rect">
            <a:avLst/>
          </a:prstGeom>
        </p:spPr>
        <p:txBody>
          <a:bodyPr>
            <a:spAutoFit/>
          </a:bodyPr>
          <a:lstStyle/>
          <a:p>
            <a:r>
              <a:rPr lang="en-US" b="1" dirty="0">
                <a:solidFill>
                  <a:srgbClr val="273239"/>
                </a:solidFill>
                <a:latin typeface="Nunito"/>
              </a:rPr>
              <a:t>3. advance()</a:t>
            </a:r>
            <a:r>
              <a:rPr lang="en-US" dirty="0">
                <a:solidFill>
                  <a:srgbClr val="273239"/>
                </a:solidFill>
                <a:latin typeface="Nunito"/>
              </a:rPr>
              <a:t> </a:t>
            </a:r>
            <a:r>
              <a:rPr lang="en-US" dirty="0" smtClean="0">
                <a:solidFill>
                  <a:srgbClr val="273239"/>
                </a:solidFill>
                <a:latin typeface="Nunito"/>
              </a:rPr>
              <a:t>:-</a:t>
            </a:r>
            <a:r>
              <a:rPr lang="en-US" dirty="0">
                <a:solidFill>
                  <a:srgbClr val="273239"/>
                </a:solidFill>
                <a:latin typeface="Nunito"/>
              </a:rPr>
              <a:t> </a:t>
            </a:r>
            <a:r>
              <a:rPr lang="en-US" dirty="0" err="1" smtClean="0">
                <a:solidFill>
                  <a:srgbClr val="273239"/>
                </a:solidFill>
                <a:latin typeface="Nunito"/>
              </a:rPr>
              <a:t>Incrementa</a:t>
            </a:r>
            <a:r>
              <a:rPr lang="en-US" dirty="0" smtClean="0">
                <a:solidFill>
                  <a:srgbClr val="273239"/>
                </a:solidFill>
                <a:latin typeface="Nunito"/>
              </a:rPr>
              <a:t> el </a:t>
            </a:r>
            <a:r>
              <a:rPr lang="en-US" dirty="0" err="1" smtClean="0">
                <a:solidFill>
                  <a:srgbClr val="273239"/>
                </a:solidFill>
                <a:latin typeface="Nunito"/>
              </a:rPr>
              <a:t>iterador</a:t>
            </a:r>
            <a:r>
              <a:rPr lang="en-US" dirty="0" smtClean="0">
                <a:solidFill>
                  <a:srgbClr val="273239"/>
                </a:solidFill>
                <a:latin typeface="Nunito"/>
              </a:rPr>
              <a:t> la </a:t>
            </a:r>
            <a:r>
              <a:rPr lang="en-US" dirty="0" err="1" smtClean="0">
                <a:solidFill>
                  <a:srgbClr val="273239"/>
                </a:solidFill>
                <a:latin typeface="Nunito"/>
              </a:rPr>
              <a:t>cantidad</a:t>
            </a:r>
            <a:r>
              <a:rPr lang="en-US" dirty="0" smtClean="0">
                <a:solidFill>
                  <a:srgbClr val="273239"/>
                </a:solidFill>
                <a:latin typeface="Nunito"/>
              </a:rPr>
              <a:t> de </a:t>
            </a:r>
            <a:r>
              <a:rPr lang="en-US" dirty="0" err="1" smtClean="0">
                <a:solidFill>
                  <a:srgbClr val="273239"/>
                </a:solidFill>
                <a:latin typeface="Nunito"/>
              </a:rPr>
              <a:t>veces</a:t>
            </a:r>
            <a:r>
              <a:rPr lang="en-US" dirty="0" smtClean="0">
                <a:solidFill>
                  <a:srgbClr val="273239"/>
                </a:solidFill>
                <a:latin typeface="Nunito"/>
              </a:rPr>
              <a:t> </a:t>
            </a:r>
            <a:r>
              <a:rPr lang="en-US" dirty="0" err="1" smtClean="0">
                <a:solidFill>
                  <a:srgbClr val="273239"/>
                </a:solidFill>
                <a:latin typeface="Nunito"/>
              </a:rPr>
              <a:t>segun</a:t>
            </a:r>
            <a:r>
              <a:rPr lang="en-US" dirty="0" smtClean="0">
                <a:solidFill>
                  <a:srgbClr val="273239"/>
                </a:solidFill>
                <a:latin typeface="Nunito"/>
              </a:rPr>
              <a:t> </a:t>
            </a:r>
            <a:r>
              <a:rPr lang="en-US" dirty="0" err="1" smtClean="0">
                <a:solidFill>
                  <a:srgbClr val="273239"/>
                </a:solidFill>
                <a:latin typeface="Nunito"/>
              </a:rPr>
              <a:t>parametro</a:t>
            </a:r>
            <a:endParaRPr lang="es-UY" dirty="0"/>
          </a:p>
        </p:txBody>
      </p:sp>
      <p:sp>
        <p:nvSpPr>
          <p:cNvPr id="8" name="Rectangle 7"/>
          <p:cNvSpPr/>
          <p:nvPr/>
        </p:nvSpPr>
        <p:spPr>
          <a:xfrm>
            <a:off x="266700" y="5286413"/>
            <a:ext cx="6096000" cy="1200329"/>
          </a:xfrm>
          <a:prstGeom prst="rect">
            <a:avLst/>
          </a:prstGeom>
        </p:spPr>
        <p:txBody>
          <a:bodyPr>
            <a:spAutoFit/>
          </a:bodyPr>
          <a:lstStyle/>
          <a:p>
            <a:pPr fontAlgn="base"/>
            <a:r>
              <a:rPr lang="en-US" b="1" dirty="0">
                <a:solidFill>
                  <a:srgbClr val="273239"/>
                </a:solidFill>
                <a:latin typeface="Nunito"/>
              </a:rPr>
              <a:t>4. next()</a:t>
            </a:r>
            <a:r>
              <a:rPr lang="en-US" dirty="0">
                <a:solidFill>
                  <a:srgbClr val="273239"/>
                </a:solidFill>
                <a:latin typeface="Nunito"/>
              </a:rPr>
              <a:t> :- </a:t>
            </a:r>
            <a:r>
              <a:rPr lang="en-US" dirty="0" err="1" smtClean="0">
                <a:solidFill>
                  <a:srgbClr val="273239"/>
                </a:solidFill>
                <a:latin typeface="Nunito"/>
              </a:rPr>
              <a:t>retorna</a:t>
            </a:r>
            <a:r>
              <a:rPr lang="en-US" dirty="0" smtClean="0">
                <a:solidFill>
                  <a:srgbClr val="273239"/>
                </a:solidFill>
                <a:latin typeface="Nunito"/>
              </a:rPr>
              <a:t> un </a:t>
            </a:r>
            <a:r>
              <a:rPr lang="en-US" dirty="0" err="1" smtClean="0">
                <a:solidFill>
                  <a:srgbClr val="273239"/>
                </a:solidFill>
                <a:latin typeface="Nunito"/>
              </a:rPr>
              <a:t>nuevo</a:t>
            </a:r>
            <a:r>
              <a:rPr lang="en-US" dirty="0" smtClean="0">
                <a:solidFill>
                  <a:srgbClr val="273239"/>
                </a:solidFill>
                <a:latin typeface="Nunito"/>
              </a:rPr>
              <a:t> </a:t>
            </a:r>
            <a:r>
              <a:rPr lang="en-US" dirty="0" err="1" smtClean="0">
                <a:solidFill>
                  <a:srgbClr val="273239"/>
                </a:solidFill>
                <a:latin typeface="Nunito"/>
              </a:rPr>
              <a:t>iterador</a:t>
            </a:r>
            <a:r>
              <a:rPr lang="en-US" dirty="0" smtClean="0">
                <a:solidFill>
                  <a:srgbClr val="273239"/>
                </a:solidFill>
                <a:latin typeface="Nunito"/>
              </a:rPr>
              <a:t> con la </a:t>
            </a:r>
            <a:r>
              <a:rPr lang="en-US" dirty="0" err="1" smtClean="0">
                <a:solidFill>
                  <a:srgbClr val="273239"/>
                </a:solidFill>
                <a:latin typeface="Nunito"/>
              </a:rPr>
              <a:t>posicion</a:t>
            </a:r>
            <a:r>
              <a:rPr lang="en-US" dirty="0" smtClean="0">
                <a:solidFill>
                  <a:srgbClr val="273239"/>
                </a:solidFill>
                <a:latin typeface="Nunito"/>
              </a:rPr>
              <a:t> </a:t>
            </a:r>
            <a:r>
              <a:rPr lang="en-US" dirty="0" err="1" smtClean="0">
                <a:solidFill>
                  <a:srgbClr val="273239"/>
                </a:solidFill>
                <a:latin typeface="Nunito"/>
              </a:rPr>
              <a:t>siguiente</a:t>
            </a:r>
            <a:endParaRPr lang="en-US" dirty="0" smtClean="0">
              <a:solidFill>
                <a:srgbClr val="273239"/>
              </a:solidFill>
              <a:latin typeface="Nunito"/>
            </a:endParaRPr>
          </a:p>
          <a:p>
            <a:pPr fontAlgn="base"/>
            <a:r>
              <a:rPr lang="en-US" b="1" dirty="0" smtClean="0">
                <a:solidFill>
                  <a:srgbClr val="273239"/>
                </a:solidFill>
                <a:latin typeface="Nunito"/>
              </a:rPr>
              <a:t>5</a:t>
            </a:r>
            <a:r>
              <a:rPr lang="en-US" b="1" dirty="0">
                <a:solidFill>
                  <a:srgbClr val="273239"/>
                </a:solidFill>
                <a:latin typeface="Nunito"/>
              </a:rPr>
              <a:t>. </a:t>
            </a:r>
            <a:r>
              <a:rPr lang="en-US" b="1" dirty="0" err="1">
                <a:solidFill>
                  <a:srgbClr val="273239"/>
                </a:solidFill>
                <a:latin typeface="Nunito"/>
              </a:rPr>
              <a:t>prev</a:t>
            </a:r>
            <a:r>
              <a:rPr lang="en-US" b="1" dirty="0">
                <a:solidFill>
                  <a:srgbClr val="273239"/>
                </a:solidFill>
                <a:latin typeface="Nunito"/>
              </a:rPr>
              <a:t>()</a:t>
            </a:r>
            <a:r>
              <a:rPr lang="en-US" dirty="0">
                <a:solidFill>
                  <a:srgbClr val="273239"/>
                </a:solidFill>
                <a:latin typeface="Nunito"/>
              </a:rPr>
              <a:t> </a:t>
            </a:r>
            <a:r>
              <a:rPr lang="en-US" dirty="0" smtClean="0">
                <a:solidFill>
                  <a:srgbClr val="273239"/>
                </a:solidFill>
                <a:latin typeface="Nunito"/>
              </a:rPr>
              <a:t>:-</a:t>
            </a:r>
            <a:r>
              <a:rPr lang="en-US" dirty="0">
                <a:solidFill>
                  <a:srgbClr val="273239"/>
                </a:solidFill>
                <a:latin typeface="Nunito"/>
              </a:rPr>
              <a:t> </a:t>
            </a:r>
            <a:r>
              <a:rPr lang="en-US" dirty="0" err="1">
                <a:solidFill>
                  <a:srgbClr val="273239"/>
                </a:solidFill>
                <a:latin typeface="Nunito"/>
              </a:rPr>
              <a:t>retorna</a:t>
            </a:r>
            <a:r>
              <a:rPr lang="en-US" dirty="0">
                <a:solidFill>
                  <a:srgbClr val="273239"/>
                </a:solidFill>
                <a:latin typeface="Nunito"/>
              </a:rPr>
              <a:t> un </a:t>
            </a:r>
            <a:r>
              <a:rPr lang="en-US" dirty="0" err="1">
                <a:solidFill>
                  <a:srgbClr val="273239"/>
                </a:solidFill>
                <a:latin typeface="Nunito"/>
              </a:rPr>
              <a:t>nuevo</a:t>
            </a:r>
            <a:r>
              <a:rPr lang="en-US" dirty="0">
                <a:solidFill>
                  <a:srgbClr val="273239"/>
                </a:solidFill>
                <a:latin typeface="Nunito"/>
              </a:rPr>
              <a:t> </a:t>
            </a:r>
            <a:r>
              <a:rPr lang="en-US" dirty="0" err="1">
                <a:solidFill>
                  <a:srgbClr val="273239"/>
                </a:solidFill>
                <a:latin typeface="Nunito"/>
              </a:rPr>
              <a:t>iterador</a:t>
            </a:r>
            <a:r>
              <a:rPr lang="en-US" dirty="0">
                <a:solidFill>
                  <a:srgbClr val="273239"/>
                </a:solidFill>
                <a:latin typeface="Nunito"/>
              </a:rPr>
              <a:t> con la </a:t>
            </a:r>
            <a:r>
              <a:rPr lang="en-US" dirty="0" err="1">
                <a:solidFill>
                  <a:srgbClr val="273239"/>
                </a:solidFill>
                <a:latin typeface="Nunito"/>
              </a:rPr>
              <a:t>posicion</a:t>
            </a:r>
            <a:r>
              <a:rPr lang="en-US" dirty="0">
                <a:solidFill>
                  <a:srgbClr val="273239"/>
                </a:solidFill>
                <a:latin typeface="Nunito"/>
              </a:rPr>
              <a:t> </a:t>
            </a:r>
            <a:r>
              <a:rPr lang="en-US" dirty="0" smtClean="0">
                <a:solidFill>
                  <a:srgbClr val="273239"/>
                </a:solidFill>
                <a:latin typeface="Nunito"/>
              </a:rPr>
              <a:t>anterior</a:t>
            </a:r>
            <a:endParaRPr lang="en-US" dirty="0">
              <a:solidFill>
                <a:srgbClr val="273239"/>
              </a:solidFill>
              <a:latin typeface="Nunito"/>
            </a:endParaRPr>
          </a:p>
        </p:txBody>
      </p:sp>
      <p:sp>
        <p:nvSpPr>
          <p:cNvPr id="10"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28800712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266700" y="323850"/>
            <a:ext cx="5867400" cy="3333750"/>
          </a:xfrm>
        </p:spPr>
        <p:txBody>
          <a:bodyPr>
            <a:normAutofit/>
          </a:bodyPr>
          <a:lstStyle/>
          <a:p>
            <a:pPr marL="0" indent="0">
              <a:buNone/>
            </a:pPr>
            <a:r>
              <a:rPr lang="es-UY" sz="2400" b="1" dirty="0" err="1"/>
              <a:t>std</a:t>
            </a:r>
            <a:r>
              <a:rPr lang="es-UY" sz="2400" b="1" dirty="0"/>
              <a:t>::</a:t>
            </a:r>
            <a:r>
              <a:rPr lang="es-UY" sz="2400" b="1" dirty="0" err="1"/>
              <a:t>list</a:t>
            </a:r>
            <a:endParaRPr lang="es-UY" sz="2400" b="1" dirty="0"/>
          </a:p>
          <a:p>
            <a:pPr marL="0" indent="0">
              <a:buNone/>
            </a:pPr>
            <a:endParaRPr lang="es-ES" dirty="0" smtClean="0"/>
          </a:p>
          <a:p>
            <a:pPr marL="0" indent="0">
              <a:buNone/>
            </a:pPr>
            <a:r>
              <a:rPr lang="es-ES" dirty="0" smtClean="0"/>
              <a:t>La </a:t>
            </a:r>
            <a:r>
              <a:rPr lang="es-ES" dirty="0"/>
              <a:t>clase </a:t>
            </a:r>
            <a:r>
              <a:rPr lang="es-ES" dirty="0" err="1"/>
              <a:t>list</a:t>
            </a:r>
            <a:r>
              <a:rPr lang="es-ES" dirty="0"/>
              <a:t> provee una estructura genérica de listas enlazadas pudiendo eventualmente </a:t>
            </a:r>
            <a:r>
              <a:rPr lang="es-ES" dirty="0" smtClean="0"/>
              <a:t>contener </a:t>
            </a:r>
            <a:r>
              <a:rPr lang="es-ES" dirty="0"/>
              <a:t>repeticiones.</a:t>
            </a:r>
            <a:endParaRPr lang="es-ES" dirty="0" smtClean="0"/>
          </a:p>
          <a:p>
            <a:endParaRPr lang="es-ES" dirty="0" smtClean="0"/>
          </a:p>
          <a:p>
            <a:pPr marL="1257300" lvl="3" indent="0">
              <a:buNone/>
            </a:pPr>
            <a:endParaRPr lang="es-ES" b="1" dirty="0" smtClean="0"/>
          </a:p>
        </p:txBody>
      </p:sp>
      <p:sp>
        <p:nvSpPr>
          <p:cNvPr id="5" name="Rectangle 4"/>
          <p:cNvSpPr/>
          <p:nvPr/>
        </p:nvSpPr>
        <p:spPr>
          <a:xfrm>
            <a:off x="5105400" y="784295"/>
            <a:ext cx="6381750" cy="5355312"/>
          </a:xfrm>
          <a:prstGeom prst="rect">
            <a:avLst/>
          </a:prstGeom>
        </p:spPr>
        <p:txBody>
          <a:bodyPr wrap="square">
            <a:spAutoFit/>
          </a:bodyPr>
          <a:lstStyle/>
          <a:p>
            <a:pPr marL="1257300" lvl="3" indent="0">
              <a:buNone/>
            </a:pPr>
            <a:r>
              <a:rPr lang="es-ES" b="1" dirty="0" smtClean="0">
                <a:solidFill>
                  <a:schemeClr val="bg1"/>
                </a:solidFill>
              </a:rPr>
              <a:t>#</a:t>
            </a:r>
            <a:r>
              <a:rPr lang="es-ES" b="1" dirty="0" err="1" smtClean="0">
                <a:solidFill>
                  <a:schemeClr val="bg1"/>
                </a:solidFill>
              </a:rPr>
              <a:t>include</a:t>
            </a:r>
            <a:r>
              <a:rPr lang="es-ES" b="1" dirty="0" smtClean="0">
                <a:solidFill>
                  <a:schemeClr val="bg1"/>
                </a:solidFill>
              </a:rPr>
              <a:t> &lt;</a:t>
            </a:r>
            <a:r>
              <a:rPr lang="es-ES" b="1" dirty="0" err="1" smtClean="0">
                <a:solidFill>
                  <a:schemeClr val="bg1"/>
                </a:solidFill>
              </a:rPr>
              <a:t>list</a:t>
            </a:r>
            <a:r>
              <a:rPr lang="es-ES" b="1" dirty="0" smtClean="0">
                <a:solidFill>
                  <a:schemeClr val="bg1"/>
                </a:solidFill>
              </a:rPr>
              <a:t>&gt;</a:t>
            </a:r>
          </a:p>
          <a:p>
            <a:pPr marL="1257300" lvl="3" indent="0">
              <a:buNone/>
            </a:pPr>
            <a:r>
              <a:rPr lang="es-ES" b="1" dirty="0" smtClean="0">
                <a:solidFill>
                  <a:schemeClr val="bg1"/>
                </a:solidFill>
              </a:rPr>
              <a:t>#</a:t>
            </a:r>
            <a:r>
              <a:rPr lang="es-ES" b="1" dirty="0" err="1" smtClean="0">
                <a:solidFill>
                  <a:schemeClr val="bg1"/>
                </a:solidFill>
              </a:rPr>
              <a:t>include</a:t>
            </a:r>
            <a:r>
              <a:rPr lang="es-ES" b="1" dirty="0" smtClean="0">
                <a:solidFill>
                  <a:schemeClr val="bg1"/>
                </a:solidFill>
              </a:rPr>
              <a:t> &lt;</a:t>
            </a:r>
            <a:r>
              <a:rPr lang="es-ES" b="1" dirty="0" err="1" smtClean="0">
                <a:solidFill>
                  <a:schemeClr val="bg1"/>
                </a:solidFill>
              </a:rPr>
              <a:t>iostream</a:t>
            </a:r>
            <a:r>
              <a:rPr lang="es-ES" b="1" dirty="0" smtClean="0">
                <a:solidFill>
                  <a:schemeClr val="bg1"/>
                </a:solidFill>
              </a:rPr>
              <a:t>&gt;</a:t>
            </a:r>
          </a:p>
          <a:p>
            <a:pPr marL="1257300" lvl="3" indent="0">
              <a:buNone/>
            </a:pPr>
            <a:endParaRPr lang="es-ES" b="1" dirty="0" smtClean="0">
              <a:solidFill>
                <a:schemeClr val="bg1"/>
              </a:solidFill>
            </a:endParaRPr>
          </a:p>
          <a:p>
            <a:pPr marL="1257300" lvl="3" indent="0">
              <a:buNone/>
            </a:pPr>
            <a:r>
              <a:rPr lang="es-ES" b="1" dirty="0" err="1" smtClean="0">
                <a:solidFill>
                  <a:schemeClr val="bg1"/>
                </a:solidFill>
              </a:rPr>
              <a:t>int</a:t>
            </a:r>
            <a:r>
              <a:rPr lang="es-ES" b="1" dirty="0" smtClean="0">
                <a:solidFill>
                  <a:schemeClr val="bg1"/>
                </a:solidFill>
              </a:rPr>
              <a:t> </a:t>
            </a:r>
            <a:r>
              <a:rPr lang="es-ES" b="1" dirty="0" err="1" smtClean="0">
                <a:solidFill>
                  <a:schemeClr val="bg1"/>
                </a:solidFill>
              </a:rPr>
              <a:t>main</a:t>
            </a:r>
            <a:r>
              <a:rPr lang="es-ES" b="1" dirty="0" smtClean="0">
                <a:solidFill>
                  <a:schemeClr val="bg1"/>
                </a:solidFill>
              </a:rPr>
              <a:t>(){</a:t>
            </a:r>
          </a:p>
          <a:p>
            <a:pPr marL="1714500" lvl="4" indent="0">
              <a:buNone/>
            </a:pPr>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list</a:t>
            </a:r>
            <a:r>
              <a:rPr lang="es-ES" b="1" dirty="0" smtClean="0">
                <a:solidFill>
                  <a:schemeClr val="bg1"/>
                </a:solidFill>
              </a:rPr>
              <a:t>&lt;</a:t>
            </a:r>
            <a:r>
              <a:rPr lang="es-ES" b="1" dirty="0" err="1" smtClean="0">
                <a:solidFill>
                  <a:schemeClr val="bg1"/>
                </a:solidFill>
              </a:rPr>
              <a:t>int</a:t>
            </a:r>
            <a:r>
              <a:rPr lang="es-ES" b="1" dirty="0" smtClean="0">
                <a:solidFill>
                  <a:schemeClr val="bg1"/>
                </a:solidFill>
              </a:rPr>
              <a:t>&gt; </a:t>
            </a:r>
            <a:r>
              <a:rPr lang="es-ES" b="1" dirty="0" err="1" smtClean="0">
                <a:solidFill>
                  <a:schemeClr val="bg1"/>
                </a:solidFill>
              </a:rPr>
              <a:t>ma_lista</a:t>
            </a:r>
            <a:r>
              <a:rPr lang="es-ES" b="1" dirty="0" smtClean="0">
                <a:solidFill>
                  <a:schemeClr val="bg1"/>
                </a:solidFill>
              </a:rPr>
              <a:t>;</a:t>
            </a:r>
          </a:p>
          <a:p>
            <a:pPr marL="1714500" lvl="4" indent="0">
              <a:buNone/>
            </a:pPr>
            <a:endParaRPr lang="es-ES" b="1" dirty="0" smtClean="0">
              <a:solidFill>
                <a:schemeClr val="bg1"/>
              </a:solidFill>
            </a:endParaRPr>
          </a:p>
          <a:p>
            <a:pPr marL="1714500" lvl="4" indent="0">
              <a:buNone/>
            </a:pPr>
            <a:r>
              <a:rPr lang="es-ES" b="1" dirty="0" smtClean="0">
                <a:solidFill>
                  <a:schemeClr val="bg1"/>
                </a:solidFill>
              </a:rPr>
              <a:t>  </a:t>
            </a:r>
            <a:r>
              <a:rPr lang="es-ES" b="1" dirty="0" err="1" smtClean="0">
                <a:solidFill>
                  <a:schemeClr val="bg1"/>
                </a:solidFill>
              </a:rPr>
              <a:t>ma_lista.push_back</a:t>
            </a:r>
            <a:r>
              <a:rPr lang="es-ES" b="1" dirty="0" smtClean="0">
                <a:solidFill>
                  <a:schemeClr val="bg1"/>
                </a:solidFill>
              </a:rPr>
              <a:t>(4);</a:t>
            </a:r>
          </a:p>
          <a:p>
            <a:pPr marL="1714500" lvl="4" indent="0">
              <a:buNone/>
            </a:pPr>
            <a:r>
              <a:rPr lang="es-ES" b="1" dirty="0" smtClean="0">
                <a:solidFill>
                  <a:schemeClr val="bg1"/>
                </a:solidFill>
              </a:rPr>
              <a:t>  </a:t>
            </a:r>
            <a:r>
              <a:rPr lang="es-ES" b="1" dirty="0" err="1" smtClean="0">
                <a:solidFill>
                  <a:schemeClr val="bg1"/>
                </a:solidFill>
              </a:rPr>
              <a:t>ma_lista.push_back</a:t>
            </a:r>
            <a:r>
              <a:rPr lang="es-ES" b="1" dirty="0" smtClean="0">
                <a:solidFill>
                  <a:schemeClr val="bg1"/>
                </a:solidFill>
              </a:rPr>
              <a:t>(5);</a:t>
            </a:r>
          </a:p>
          <a:p>
            <a:pPr marL="1714500" lvl="4" indent="0">
              <a:buNone/>
            </a:pPr>
            <a:r>
              <a:rPr lang="es-ES" b="1" dirty="0" smtClean="0">
                <a:solidFill>
                  <a:schemeClr val="bg1"/>
                </a:solidFill>
              </a:rPr>
              <a:t>  </a:t>
            </a:r>
            <a:r>
              <a:rPr lang="es-ES" b="1" dirty="0" err="1" smtClean="0">
                <a:solidFill>
                  <a:schemeClr val="bg1"/>
                </a:solidFill>
              </a:rPr>
              <a:t>ma_lista.push_back</a:t>
            </a:r>
            <a:r>
              <a:rPr lang="es-ES" b="1" dirty="0" smtClean="0">
                <a:solidFill>
                  <a:schemeClr val="bg1"/>
                </a:solidFill>
              </a:rPr>
              <a:t>(4);</a:t>
            </a:r>
          </a:p>
          <a:p>
            <a:pPr marL="1714500" lvl="4" indent="0">
              <a:buNone/>
            </a:pPr>
            <a:r>
              <a:rPr lang="es-ES" b="1" dirty="0" smtClean="0">
                <a:solidFill>
                  <a:schemeClr val="bg1"/>
                </a:solidFill>
              </a:rPr>
              <a:t>  </a:t>
            </a:r>
            <a:r>
              <a:rPr lang="es-ES" b="1" dirty="0" err="1" smtClean="0">
                <a:solidFill>
                  <a:schemeClr val="bg1"/>
                </a:solidFill>
              </a:rPr>
              <a:t>ma_lista.push_back</a:t>
            </a:r>
            <a:r>
              <a:rPr lang="es-ES" b="1" dirty="0" smtClean="0">
                <a:solidFill>
                  <a:schemeClr val="bg1"/>
                </a:solidFill>
              </a:rPr>
              <a:t>(1);</a:t>
            </a:r>
          </a:p>
          <a:p>
            <a:pPr marL="1714500" lvl="4" indent="0">
              <a:buNone/>
            </a:pPr>
            <a:endParaRPr lang="es-ES" b="1" dirty="0" smtClean="0">
              <a:solidFill>
                <a:schemeClr val="bg1"/>
              </a:solidFill>
            </a:endParaRPr>
          </a:p>
          <a:p>
            <a:pPr marL="1714500" lvl="4" indent="0">
              <a:buNone/>
            </a:pPr>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list</a:t>
            </a:r>
            <a:r>
              <a:rPr lang="es-ES" b="1" dirty="0" smtClean="0">
                <a:solidFill>
                  <a:schemeClr val="bg1"/>
                </a:solidFill>
              </a:rPr>
              <a:t>&lt;</a:t>
            </a:r>
            <a:r>
              <a:rPr lang="es-ES" b="1" dirty="0" err="1" smtClean="0">
                <a:solidFill>
                  <a:schemeClr val="bg1"/>
                </a:solidFill>
              </a:rPr>
              <a:t>int</a:t>
            </a:r>
            <a:r>
              <a:rPr lang="es-ES" b="1" dirty="0" smtClean="0">
                <a:solidFill>
                  <a:schemeClr val="bg1"/>
                </a:solidFill>
              </a:rPr>
              <a:t>&gt;::</a:t>
            </a:r>
            <a:r>
              <a:rPr lang="es-ES" b="1" dirty="0" err="1" smtClean="0">
                <a:solidFill>
                  <a:schemeClr val="bg1"/>
                </a:solidFill>
              </a:rPr>
              <a:t>const_iterator</a:t>
            </a:r>
            <a:endParaRPr lang="es-ES" b="1" dirty="0" smtClean="0">
              <a:solidFill>
                <a:schemeClr val="bg1"/>
              </a:solidFill>
            </a:endParaRPr>
          </a:p>
          <a:p>
            <a:pPr marL="1714500" lvl="4" indent="0">
              <a:buNone/>
            </a:pPr>
            <a:r>
              <a:rPr lang="es-ES" b="1" dirty="0" smtClean="0">
                <a:solidFill>
                  <a:schemeClr val="bg1"/>
                </a:solidFill>
              </a:rPr>
              <a:t>    </a:t>
            </a:r>
            <a:r>
              <a:rPr lang="es-ES" b="1" dirty="0" err="1" smtClean="0">
                <a:solidFill>
                  <a:schemeClr val="bg1"/>
                </a:solidFill>
              </a:rPr>
              <a:t>lit</a:t>
            </a:r>
            <a:r>
              <a:rPr lang="es-ES" b="1" dirty="0" smtClean="0">
                <a:solidFill>
                  <a:schemeClr val="bg1"/>
                </a:solidFill>
              </a:rPr>
              <a:t> (</a:t>
            </a:r>
            <a:r>
              <a:rPr lang="es-ES" b="1" dirty="0" err="1" smtClean="0">
                <a:solidFill>
                  <a:schemeClr val="bg1"/>
                </a:solidFill>
              </a:rPr>
              <a:t>mi_lista.begin</a:t>
            </a:r>
            <a:r>
              <a:rPr lang="es-ES" b="1" dirty="0" smtClean="0">
                <a:solidFill>
                  <a:schemeClr val="bg1"/>
                </a:solidFill>
              </a:rPr>
              <a:t>()),</a:t>
            </a:r>
          </a:p>
          <a:p>
            <a:pPr marL="1714500" lvl="4" indent="0">
              <a:buNone/>
            </a:pPr>
            <a:r>
              <a:rPr lang="es-ES" b="1" dirty="0" smtClean="0">
                <a:solidFill>
                  <a:schemeClr val="bg1"/>
                </a:solidFill>
              </a:rPr>
              <a:t>    </a:t>
            </a:r>
            <a:r>
              <a:rPr lang="es-ES" b="1" dirty="0" err="1" smtClean="0">
                <a:solidFill>
                  <a:schemeClr val="bg1"/>
                </a:solidFill>
              </a:rPr>
              <a:t>lend</a:t>
            </a:r>
            <a:r>
              <a:rPr lang="es-ES" b="1" dirty="0" smtClean="0">
                <a:solidFill>
                  <a:schemeClr val="bg1"/>
                </a:solidFill>
              </a:rPr>
              <a:t>(</a:t>
            </a:r>
            <a:r>
              <a:rPr lang="es-ES" b="1" dirty="0" err="1" smtClean="0">
                <a:solidFill>
                  <a:schemeClr val="bg1"/>
                </a:solidFill>
              </a:rPr>
              <a:t>mi_lista.end</a:t>
            </a:r>
            <a:r>
              <a:rPr lang="es-ES" b="1" dirty="0" smtClean="0">
                <a:solidFill>
                  <a:schemeClr val="bg1"/>
                </a:solidFill>
              </a:rPr>
              <a:t>());</a:t>
            </a:r>
          </a:p>
          <a:p>
            <a:pPr marL="1714500" lvl="4" indent="0">
              <a:buNone/>
            </a:pPr>
            <a:endParaRPr lang="es-ES" b="1" dirty="0" smtClean="0">
              <a:solidFill>
                <a:schemeClr val="bg1"/>
              </a:solidFill>
            </a:endParaRPr>
          </a:p>
          <a:p>
            <a:pPr marL="1714500" lvl="4" indent="0">
              <a:buNone/>
            </a:pPr>
            <a:r>
              <a:rPr lang="es-ES" b="1" dirty="0" smtClean="0">
                <a:solidFill>
                  <a:schemeClr val="bg1"/>
                </a:solidFill>
              </a:rPr>
              <a:t>  </a:t>
            </a:r>
            <a:r>
              <a:rPr lang="es-ES" b="1" dirty="0" err="1" smtClean="0">
                <a:solidFill>
                  <a:schemeClr val="bg1"/>
                </a:solidFill>
              </a:rPr>
              <a:t>for</a:t>
            </a:r>
            <a:r>
              <a:rPr lang="es-ES" b="1" dirty="0" smtClean="0">
                <a:solidFill>
                  <a:schemeClr val="bg1"/>
                </a:solidFill>
              </a:rPr>
              <a:t>(;</a:t>
            </a:r>
            <a:r>
              <a:rPr lang="es-ES" b="1" dirty="0" err="1" smtClean="0">
                <a:solidFill>
                  <a:schemeClr val="bg1"/>
                </a:solidFill>
              </a:rPr>
              <a:t>lit</a:t>
            </a:r>
            <a:r>
              <a:rPr lang="es-ES" b="1" dirty="0" smtClean="0">
                <a:solidFill>
                  <a:schemeClr val="bg1"/>
                </a:solidFill>
              </a:rPr>
              <a:t>!=</a:t>
            </a:r>
            <a:r>
              <a:rPr lang="es-ES" b="1" dirty="0" err="1" smtClean="0">
                <a:solidFill>
                  <a:schemeClr val="bg1"/>
                </a:solidFill>
              </a:rPr>
              <a:t>lend</a:t>
            </a:r>
            <a:r>
              <a:rPr lang="es-ES" b="1" dirty="0" smtClean="0">
                <a:solidFill>
                  <a:schemeClr val="bg1"/>
                </a:solidFill>
              </a:rPr>
              <a:t>;++</a:t>
            </a:r>
            <a:r>
              <a:rPr lang="es-ES" b="1" dirty="0" err="1" smtClean="0">
                <a:solidFill>
                  <a:schemeClr val="bg1"/>
                </a:solidFill>
              </a:rPr>
              <a:t>lit</a:t>
            </a:r>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cout</a:t>
            </a:r>
            <a:r>
              <a:rPr lang="es-ES" b="1" dirty="0" smtClean="0">
                <a:solidFill>
                  <a:schemeClr val="bg1"/>
                </a:solidFill>
              </a:rPr>
              <a:t> &lt;&lt; *</a:t>
            </a:r>
            <a:r>
              <a:rPr lang="es-ES" b="1" dirty="0" err="1" smtClean="0">
                <a:solidFill>
                  <a:schemeClr val="bg1"/>
                </a:solidFill>
              </a:rPr>
              <a:t>lit</a:t>
            </a:r>
            <a:r>
              <a:rPr lang="es-ES" b="1" dirty="0" smtClean="0">
                <a:solidFill>
                  <a:schemeClr val="bg1"/>
                </a:solidFill>
              </a:rPr>
              <a:t> &lt;&lt; ' ';</a:t>
            </a:r>
          </a:p>
          <a:p>
            <a:pPr marL="1714500" lvl="4" indent="0">
              <a:buNone/>
            </a:pPr>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cout</a:t>
            </a:r>
            <a:r>
              <a:rPr lang="es-ES" b="1" dirty="0" smtClean="0">
                <a:solidFill>
                  <a:schemeClr val="bg1"/>
                </a:solidFill>
              </a:rPr>
              <a:t> &lt;&lt;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endl</a:t>
            </a:r>
            <a:r>
              <a:rPr lang="es-ES" b="1" dirty="0" smtClean="0">
                <a:solidFill>
                  <a:schemeClr val="bg1"/>
                </a:solidFill>
              </a:rPr>
              <a:t>; </a:t>
            </a:r>
          </a:p>
          <a:p>
            <a:pPr marL="1714500" lvl="4" indent="0">
              <a:buNone/>
            </a:pPr>
            <a:r>
              <a:rPr lang="es-ES" b="1" dirty="0" smtClean="0">
                <a:solidFill>
                  <a:schemeClr val="bg1"/>
                </a:solidFill>
              </a:rPr>
              <a:t>  </a:t>
            </a:r>
            <a:r>
              <a:rPr lang="es-ES" b="1" dirty="0" err="1" smtClean="0">
                <a:solidFill>
                  <a:schemeClr val="bg1"/>
                </a:solidFill>
              </a:rPr>
              <a:t>return</a:t>
            </a:r>
            <a:r>
              <a:rPr lang="es-ES" b="1" dirty="0" smtClean="0">
                <a:solidFill>
                  <a:schemeClr val="bg1"/>
                </a:solidFill>
              </a:rPr>
              <a:t> 0;</a:t>
            </a:r>
          </a:p>
          <a:p>
            <a:pPr marL="1257300" lvl="3" indent="0">
              <a:buNone/>
            </a:pPr>
            <a:r>
              <a:rPr lang="es-ES" b="1" dirty="0" smtClean="0">
                <a:solidFill>
                  <a:schemeClr val="bg1"/>
                </a:solidFill>
              </a:rPr>
              <a:t>}</a:t>
            </a:r>
            <a:endParaRPr lang="es-UY" dirty="0">
              <a:solidFill>
                <a:schemeClr val="bg1"/>
              </a:solidFill>
            </a:endParaRPr>
          </a:p>
        </p:txBody>
      </p:sp>
      <p:pic>
        <p:nvPicPr>
          <p:cNvPr id="7" name="Picture 6"/>
          <p:cNvPicPr>
            <a:picLocks noChangeAspect="1"/>
          </p:cNvPicPr>
          <p:nvPr/>
        </p:nvPicPr>
        <p:blipFill>
          <a:blip r:embed="rId2"/>
          <a:stretch>
            <a:fillRect/>
          </a:stretch>
        </p:blipFill>
        <p:spPr>
          <a:xfrm>
            <a:off x="694975" y="3104958"/>
            <a:ext cx="5010849" cy="2743583"/>
          </a:xfrm>
          <a:prstGeom prst="rect">
            <a:avLst/>
          </a:prstGeom>
        </p:spPr>
      </p:pic>
      <p:sp>
        <p:nvSpPr>
          <p:cNvPr id="3" name="Rectangle 2"/>
          <p:cNvSpPr/>
          <p:nvPr/>
        </p:nvSpPr>
        <p:spPr>
          <a:xfrm>
            <a:off x="439611" y="6230720"/>
            <a:ext cx="5902578" cy="646331"/>
          </a:xfrm>
          <a:prstGeom prst="rect">
            <a:avLst/>
          </a:prstGeom>
        </p:spPr>
        <p:txBody>
          <a:bodyPr wrap="none">
            <a:spAutoFit/>
          </a:bodyPr>
          <a:lstStyle/>
          <a:p>
            <a:r>
              <a:rPr lang="es-UY" dirty="0">
                <a:solidFill>
                  <a:schemeClr val="bg1"/>
                </a:solidFill>
                <a:hlinkClick r:id="rId3"/>
              </a:rPr>
              <a:t>https://</a:t>
            </a:r>
            <a:r>
              <a:rPr lang="es-UY" dirty="0" smtClean="0">
                <a:solidFill>
                  <a:schemeClr val="bg1"/>
                </a:solidFill>
                <a:hlinkClick r:id="rId3"/>
              </a:rPr>
              <a:t>en.cppreference.com/w/cpp/container/list</a:t>
            </a:r>
            <a:endParaRPr lang="es-UY" dirty="0" smtClean="0">
              <a:solidFill>
                <a:schemeClr val="bg1"/>
              </a:solidFill>
            </a:endParaRPr>
          </a:p>
          <a:p>
            <a:endParaRPr lang="es-UY" dirty="0">
              <a:solidFill>
                <a:schemeClr val="bg1"/>
              </a:solidFill>
            </a:endParaRPr>
          </a:p>
        </p:txBody>
      </p:sp>
      <p:sp>
        <p:nvSpPr>
          <p:cNvPr id="6" name="4 Marcador de pie de página"/>
          <p:cNvSpPr>
            <a:spLocks noGrp="1"/>
          </p:cNvSpPr>
          <p:nvPr>
            <p:ph type="ftr" sz="quarter" idx="11"/>
          </p:nvPr>
        </p:nvSpPr>
        <p:spPr bwMode="auto">
          <a:xfrm>
            <a:off x="773430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186715825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975" y="226244"/>
            <a:ext cx="6135475" cy="2593156"/>
          </a:xfrm>
        </p:spPr>
        <p:txBody>
          <a:bodyPr>
            <a:normAutofit/>
          </a:bodyPr>
          <a:lstStyle/>
          <a:p>
            <a:pPr marL="0" indent="0">
              <a:buNone/>
            </a:pPr>
            <a:r>
              <a:rPr lang="es-UY" sz="2400" b="1" dirty="0" err="1"/>
              <a:t>std</a:t>
            </a:r>
            <a:r>
              <a:rPr lang="es-UY" sz="2400" b="1" dirty="0" smtClean="0"/>
              <a:t>::</a:t>
            </a:r>
            <a:r>
              <a:rPr lang="es-UY" sz="2400" b="1" dirty="0" err="1" smtClean="0"/>
              <a:t>deque</a:t>
            </a:r>
            <a:endParaRPr lang="es-UY" sz="2400" b="1" dirty="0"/>
          </a:p>
          <a:p>
            <a:pPr marL="0" indent="0">
              <a:buNone/>
            </a:pPr>
            <a:endParaRPr lang="es-ES" dirty="0" smtClean="0"/>
          </a:p>
          <a:p>
            <a:pPr marL="0" indent="0">
              <a:buNone/>
            </a:pPr>
            <a:r>
              <a:rPr lang="es-ES" dirty="0" err="1"/>
              <a:t>Deque</a:t>
            </a:r>
            <a:r>
              <a:rPr lang="es-ES" dirty="0"/>
              <a:t> es una abreviatura de cola doble. es una matriz dinámica que se implementa para que pueda crecer en ambas direcciones</a:t>
            </a:r>
            <a:r>
              <a:rPr lang="es-ES" dirty="0" smtClean="0"/>
              <a:t>.</a:t>
            </a:r>
          </a:p>
        </p:txBody>
      </p:sp>
      <p:sp>
        <p:nvSpPr>
          <p:cNvPr id="3" name="Rectangle 2"/>
          <p:cNvSpPr/>
          <p:nvPr/>
        </p:nvSpPr>
        <p:spPr>
          <a:xfrm>
            <a:off x="5819775" y="560070"/>
            <a:ext cx="6096000" cy="5909310"/>
          </a:xfrm>
          <a:prstGeom prst="rect">
            <a:avLst/>
          </a:prstGeom>
        </p:spPr>
        <p:txBody>
          <a:bodyPr>
            <a:spAutoFit/>
          </a:bodyPr>
          <a:lstStyle/>
          <a:p>
            <a:endParaRPr lang="es-ES" dirty="0" smtClean="0">
              <a:solidFill>
                <a:schemeClr val="bg1"/>
              </a:solidFill>
            </a:endParaRPr>
          </a:p>
          <a:p>
            <a:pPr lvl="2"/>
            <a:r>
              <a:rPr lang="es-ES" b="1" dirty="0" smtClean="0">
                <a:solidFill>
                  <a:schemeClr val="bg1"/>
                </a:solidFill>
              </a:rPr>
              <a:t>#</a:t>
            </a:r>
            <a:r>
              <a:rPr lang="es-ES" b="1" dirty="0" err="1" smtClean="0">
                <a:solidFill>
                  <a:schemeClr val="bg1"/>
                </a:solidFill>
              </a:rPr>
              <a:t>include</a:t>
            </a:r>
            <a:r>
              <a:rPr lang="es-ES" b="1" dirty="0" smtClean="0">
                <a:solidFill>
                  <a:schemeClr val="bg1"/>
                </a:solidFill>
              </a:rPr>
              <a:t> &lt;</a:t>
            </a:r>
            <a:r>
              <a:rPr lang="es-ES" b="1" dirty="0" err="1" smtClean="0">
                <a:solidFill>
                  <a:schemeClr val="bg1"/>
                </a:solidFill>
              </a:rPr>
              <a:t>iostream</a:t>
            </a:r>
            <a:r>
              <a:rPr lang="es-ES" b="1" dirty="0" smtClean="0">
                <a:solidFill>
                  <a:schemeClr val="bg1"/>
                </a:solidFill>
              </a:rPr>
              <a:t>&gt;</a:t>
            </a:r>
          </a:p>
          <a:p>
            <a:pPr lvl="2"/>
            <a:r>
              <a:rPr lang="es-ES" b="1" dirty="0" smtClean="0">
                <a:solidFill>
                  <a:schemeClr val="bg1"/>
                </a:solidFill>
              </a:rPr>
              <a:t>#</a:t>
            </a:r>
            <a:r>
              <a:rPr lang="es-ES" b="1" dirty="0" err="1" smtClean="0">
                <a:solidFill>
                  <a:schemeClr val="bg1"/>
                </a:solidFill>
              </a:rPr>
              <a:t>include</a:t>
            </a:r>
            <a:r>
              <a:rPr lang="es-ES" b="1" dirty="0" smtClean="0">
                <a:solidFill>
                  <a:schemeClr val="bg1"/>
                </a:solidFill>
              </a:rPr>
              <a:t> &lt;</a:t>
            </a:r>
            <a:r>
              <a:rPr lang="es-ES" b="1" dirty="0" err="1" smtClean="0">
                <a:solidFill>
                  <a:schemeClr val="bg1"/>
                </a:solidFill>
              </a:rPr>
              <a:t>deque</a:t>
            </a:r>
            <a:r>
              <a:rPr lang="es-ES" b="1" dirty="0" smtClean="0">
                <a:solidFill>
                  <a:schemeClr val="bg1"/>
                </a:solidFill>
              </a:rPr>
              <a:t>&gt;</a:t>
            </a:r>
          </a:p>
          <a:p>
            <a:pPr lvl="2"/>
            <a:endParaRPr lang="es-ES" b="1" dirty="0" smtClean="0">
              <a:solidFill>
                <a:schemeClr val="bg1"/>
              </a:solidFill>
            </a:endParaRPr>
          </a:p>
          <a:p>
            <a:pPr lvl="2"/>
            <a:r>
              <a:rPr lang="es-ES" b="1" dirty="0" err="1" smtClean="0">
                <a:solidFill>
                  <a:schemeClr val="bg1"/>
                </a:solidFill>
              </a:rPr>
              <a:t>int</a:t>
            </a:r>
            <a:r>
              <a:rPr lang="es-ES" b="1" dirty="0" smtClean="0">
                <a:solidFill>
                  <a:schemeClr val="bg1"/>
                </a:solidFill>
              </a:rPr>
              <a:t> </a:t>
            </a:r>
            <a:r>
              <a:rPr lang="es-ES" b="1" dirty="0" err="1" smtClean="0">
                <a:solidFill>
                  <a:schemeClr val="bg1"/>
                </a:solidFill>
              </a:rPr>
              <a:t>main</a:t>
            </a:r>
            <a:r>
              <a:rPr lang="es-ES" b="1" dirty="0" smtClean="0">
                <a:solidFill>
                  <a:schemeClr val="bg1"/>
                </a:solidFill>
              </a:rPr>
              <a:t>()</a:t>
            </a:r>
          </a:p>
          <a:p>
            <a:pPr lvl="2"/>
            <a:r>
              <a:rPr lang="es-ES" b="1" dirty="0" smtClean="0">
                <a:solidFill>
                  <a:schemeClr val="bg1"/>
                </a:solidFill>
              </a:rPr>
              <a:t>{</a:t>
            </a:r>
          </a:p>
          <a:p>
            <a:pPr lvl="2"/>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deque</a:t>
            </a:r>
            <a:r>
              <a:rPr lang="es-ES" b="1" dirty="0" smtClean="0">
                <a:solidFill>
                  <a:schemeClr val="bg1"/>
                </a:solidFill>
              </a:rPr>
              <a:t>&lt;</a:t>
            </a:r>
            <a:r>
              <a:rPr lang="es-ES" b="1" dirty="0" err="1" smtClean="0">
                <a:solidFill>
                  <a:schemeClr val="bg1"/>
                </a:solidFill>
              </a:rPr>
              <a:t>float</a:t>
            </a:r>
            <a:r>
              <a:rPr lang="es-ES" b="1" dirty="0" smtClean="0">
                <a:solidFill>
                  <a:schemeClr val="bg1"/>
                </a:solidFill>
              </a:rPr>
              <a:t>&gt; </a:t>
            </a:r>
            <a:r>
              <a:rPr lang="es-ES" b="1" dirty="0" err="1" smtClean="0">
                <a:solidFill>
                  <a:schemeClr val="bg1"/>
                </a:solidFill>
              </a:rPr>
              <a:t>dq</a:t>
            </a:r>
            <a:r>
              <a:rPr lang="es-ES" b="1" dirty="0" smtClean="0">
                <a:solidFill>
                  <a:schemeClr val="bg1"/>
                </a:solidFill>
              </a:rPr>
              <a:t>; //</a:t>
            </a:r>
            <a:r>
              <a:rPr lang="es-ES" b="1" dirty="0" err="1" smtClean="0">
                <a:solidFill>
                  <a:schemeClr val="bg1"/>
                </a:solidFill>
              </a:rPr>
              <a:t>deque</a:t>
            </a:r>
            <a:r>
              <a:rPr lang="es-ES" b="1" dirty="0" smtClean="0">
                <a:solidFill>
                  <a:schemeClr val="bg1"/>
                </a:solidFill>
              </a:rPr>
              <a:t> </a:t>
            </a:r>
            <a:r>
              <a:rPr lang="es-ES" b="1" dirty="0" err="1" smtClean="0">
                <a:solidFill>
                  <a:schemeClr val="bg1"/>
                </a:solidFill>
              </a:rPr>
              <a:t>container</a:t>
            </a:r>
            <a:r>
              <a:rPr lang="es-ES" b="1" dirty="0" smtClean="0">
                <a:solidFill>
                  <a:schemeClr val="bg1"/>
                </a:solidFill>
              </a:rPr>
              <a:t> </a:t>
            </a:r>
            <a:r>
              <a:rPr lang="es-ES" b="1" dirty="0" err="1" smtClean="0">
                <a:solidFill>
                  <a:schemeClr val="bg1"/>
                </a:solidFill>
              </a:rPr>
              <a:t>for</a:t>
            </a:r>
            <a:r>
              <a:rPr lang="es-ES" b="1" dirty="0" smtClean="0">
                <a:solidFill>
                  <a:schemeClr val="bg1"/>
                </a:solidFill>
              </a:rPr>
              <a:t> </a:t>
            </a:r>
            <a:r>
              <a:rPr lang="es-ES" b="1" dirty="0" err="1" smtClean="0">
                <a:solidFill>
                  <a:schemeClr val="bg1"/>
                </a:solidFill>
              </a:rPr>
              <a:t>floating-point</a:t>
            </a:r>
            <a:r>
              <a:rPr lang="es-ES" b="1" dirty="0" smtClean="0">
                <a:solidFill>
                  <a:schemeClr val="bg1"/>
                </a:solidFill>
              </a:rPr>
              <a:t> </a:t>
            </a:r>
            <a:r>
              <a:rPr lang="es-ES" b="1" dirty="0" err="1" smtClean="0">
                <a:solidFill>
                  <a:schemeClr val="bg1"/>
                </a:solidFill>
              </a:rPr>
              <a:t>elements</a:t>
            </a:r>
            <a:endParaRPr lang="es-ES" b="1" dirty="0" smtClean="0">
              <a:solidFill>
                <a:schemeClr val="bg1"/>
              </a:solidFill>
            </a:endParaRPr>
          </a:p>
          <a:p>
            <a:pPr lvl="2"/>
            <a:endParaRPr lang="es-ES" b="1" dirty="0" smtClean="0">
              <a:solidFill>
                <a:schemeClr val="bg1"/>
              </a:solidFill>
            </a:endParaRPr>
          </a:p>
          <a:p>
            <a:pPr lvl="2"/>
            <a:r>
              <a:rPr lang="es-ES" b="1" dirty="0" smtClean="0">
                <a:solidFill>
                  <a:schemeClr val="bg1"/>
                </a:solidFill>
              </a:rPr>
              <a:t>    </a:t>
            </a:r>
            <a:r>
              <a:rPr lang="es-ES" b="1" dirty="0" err="1" smtClean="0">
                <a:solidFill>
                  <a:schemeClr val="bg1"/>
                </a:solidFill>
              </a:rPr>
              <a:t>for</a:t>
            </a:r>
            <a:r>
              <a:rPr lang="es-ES" b="1" dirty="0" smtClean="0">
                <a:solidFill>
                  <a:schemeClr val="bg1"/>
                </a:solidFill>
              </a:rPr>
              <a:t> (</a:t>
            </a:r>
            <a:r>
              <a:rPr lang="es-ES" b="1" dirty="0" err="1" smtClean="0">
                <a:solidFill>
                  <a:schemeClr val="bg1"/>
                </a:solidFill>
              </a:rPr>
              <a:t>int</a:t>
            </a:r>
            <a:r>
              <a:rPr lang="es-ES" b="1" dirty="0" smtClean="0">
                <a:solidFill>
                  <a:schemeClr val="bg1"/>
                </a:solidFill>
              </a:rPr>
              <a:t> i = 1; i &lt;= 6; ++i)</a:t>
            </a:r>
          </a:p>
          <a:p>
            <a:pPr lvl="2"/>
            <a:r>
              <a:rPr lang="es-ES" b="1" dirty="0" smtClean="0">
                <a:solidFill>
                  <a:schemeClr val="bg1"/>
                </a:solidFill>
              </a:rPr>
              <a:t>    {</a:t>
            </a:r>
          </a:p>
          <a:p>
            <a:pPr lvl="2"/>
            <a:r>
              <a:rPr lang="es-ES" b="1" dirty="0" smtClean="0">
                <a:solidFill>
                  <a:schemeClr val="bg1"/>
                </a:solidFill>
              </a:rPr>
              <a:t>        </a:t>
            </a:r>
            <a:r>
              <a:rPr lang="es-ES" b="1" dirty="0" err="1" smtClean="0">
                <a:solidFill>
                  <a:schemeClr val="bg1"/>
                </a:solidFill>
              </a:rPr>
              <a:t>dq.push_front</a:t>
            </a:r>
            <a:r>
              <a:rPr lang="es-ES" b="1" dirty="0" smtClean="0">
                <a:solidFill>
                  <a:schemeClr val="bg1"/>
                </a:solidFill>
              </a:rPr>
              <a:t>(i * 2.2); //</a:t>
            </a:r>
            <a:r>
              <a:rPr lang="es-ES" b="1" dirty="0" err="1" smtClean="0">
                <a:solidFill>
                  <a:schemeClr val="bg1"/>
                </a:solidFill>
              </a:rPr>
              <a:t>insert</a:t>
            </a:r>
            <a:r>
              <a:rPr lang="es-ES" b="1" dirty="0" smtClean="0">
                <a:solidFill>
                  <a:schemeClr val="bg1"/>
                </a:solidFill>
              </a:rPr>
              <a:t> at </a:t>
            </a:r>
            <a:r>
              <a:rPr lang="es-ES" b="1" dirty="0" err="1" smtClean="0">
                <a:solidFill>
                  <a:schemeClr val="bg1"/>
                </a:solidFill>
              </a:rPr>
              <a:t>the</a:t>
            </a:r>
            <a:r>
              <a:rPr lang="es-ES" b="1" dirty="0" smtClean="0">
                <a:solidFill>
                  <a:schemeClr val="bg1"/>
                </a:solidFill>
              </a:rPr>
              <a:t> </a:t>
            </a:r>
            <a:r>
              <a:rPr lang="es-ES" b="1" dirty="0" err="1" smtClean="0">
                <a:solidFill>
                  <a:schemeClr val="bg1"/>
                </a:solidFill>
              </a:rPr>
              <a:t>front</a:t>
            </a:r>
            <a:endParaRPr lang="es-ES" b="1" dirty="0" smtClean="0">
              <a:solidFill>
                <a:schemeClr val="bg1"/>
              </a:solidFill>
            </a:endParaRPr>
          </a:p>
          <a:p>
            <a:pPr lvl="2"/>
            <a:r>
              <a:rPr lang="es-ES" b="1" dirty="0" smtClean="0">
                <a:solidFill>
                  <a:schemeClr val="bg1"/>
                </a:solidFill>
              </a:rPr>
              <a:t>    }</a:t>
            </a:r>
          </a:p>
          <a:p>
            <a:pPr lvl="2"/>
            <a:endParaRPr lang="es-ES" b="1" dirty="0" smtClean="0">
              <a:solidFill>
                <a:schemeClr val="bg1"/>
              </a:solidFill>
            </a:endParaRPr>
          </a:p>
          <a:p>
            <a:pPr lvl="2"/>
            <a:r>
              <a:rPr lang="es-ES" b="1" dirty="0" smtClean="0">
                <a:solidFill>
                  <a:schemeClr val="bg1"/>
                </a:solidFill>
              </a:rPr>
              <a:t>    //</a:t>
            </a:r>
            <a:r>
              <a:rPr lang="es-ES" b="1" dirty="0" err="1" smtClean="0">
                <a:solidFill>
                  <a:schemeClr val="bg1"/>
                </a:solidFill>
              </a:rPr>
              <a:t>print</a:t>
            </a:r>
            <a:r>
              <a:rPr lang="es-ES" b="1" dirty="0" smtClean="0">
                <a:solidFill>
                  <a:schemeClr val="bg1"/>
                </a:solidFill>
              </a:rPr>
              <a:t> </a:t>
            </a:r>
            <a:r>
              <a:rPr lang="es-ES" b="1" dirty="0" err="1" smtClean="0">
                <a:solidFill>
                  <a:schemeClr val="bg1"/>
                </a:solidFill>
              </a:rPr>
              <a:t>all</a:t>
            </a:r>
            <a:r>
              <a:rPr lang="es-ES" b="1" dirty="0" smtClean="0">
                <a:solidFill>
                  <a:schemeClr val="bg1"/>
                </a:solidFill>
              </a:rPr>
              <a:t> </a:t>
            </a:r>
            <a:r>
              <a:rPr lang="es-ES" b="1" dirty="0" err="1" smtClean="0">
                <a:solidFill>
                  <a:schemeClr val="bg1"/>
                </a:solidFill>
              </a:rPr>
              <a:t>elements</a:t>
            </a:r>
            <a:r>
              <a:rPr lang="es-ES" b="1" dirty="0" smtClean="0">
                <a:solidFill>
                  <a:schemeClr val="bg1"/>
                </a:solidFill>
              </a:rPr>
              <a:t> </a:t>
            </a:r>
            <a:r>
              <a:rPr lang="es-ES" b="1" dirty="0" err="1" smtClean="0">
                <a:solidFill>
                  <a:schemeClr val="bg1"/>
                </a:solidFill>
              </a:rPr>
              <a:t>followed</a:t>
            </a:r>
            <a:r>
              <a:rPr lang="es-ES" b="1" dirty="0" smtClean="0">
                <a:solidFill>
                  <a:schemeClr val="bg1"/>
                </a:solidFill>
              </a:rPr>
              <a:t> </a:t>
            </a:r>
            <a:r>
              <a:rPr lang="es-ES" b="1" dirty="0" err="1" smtClean="0">
                <a:solidFill>
                  <a:schemeClr val="bg1"/>
                </a:solidFill>
              </a:rPr>
              <a:t>by</a:t>
            </a:r>
            <a:r>
              <a:rPr lang="es-ES" b="1" dirty="0" smtClean="0">
                <a:solidFill>
                  <a:schemeClr val="bg1"/>
                </a:solidFill>
              </a:rPr>
              <a:t> a </a:t>
            </a:r>
            <a:r>
              <a:rPr lang="es-ES" b="1" dirty="0" err="1" smtClean="0">
                <a:solidFill>
                  <a:schemeClr val="bg1"/>
                </a:solidFill>
              </a:rPr>
              <a:t>space</a:t>
            </a:r>
            <a:endParaRPr lang="es-ES" b="1" dirty="0" smtClean="0">
              <a:solidFill>
                <a:schemeClr val="bg1"/>
              </a:solidFill>
            </a:endParaRPr>
          </a:p>
          <a:p>
            <a:pPr lvl="2"/>
            <a:r>
              <a:rPr lang="es-ES" b="1" dirty="0" smtClean="0">
                <a:solidFill>
                  <a:schemeClr val="bg1"/>
                </a:solidFill>
              </a:rPr>
              <a:t>    </a:t>
            </a:r>
            <a:r>
              <a:rPr lang="es-ES" b="1" dirty="0" err="1" smtClean="0">
                <a:solidFill>
                  <a:schemeClr val="bg1"/>
                </a:solidFill>
              </a:rPr>
              <a:t>for</a:t>
            </a:r>
            <a:r>
              <a:rPr lang="es-ES" b="1" dirty="0" smtClean="0">
                <a:solidFill>
                  <a:schemeClr val="bg1"/>
                </a:solidFill>
              </a:rPr>
              <a:t> (</a:t>
            </a:r>
            <a:r>
              <a:rPr lang="es-ES" b="1" dirty="0" err="1" smtClean="0">
                <a:solidFill>
                  <a:schemeClr val="bg1"/>
                </a:solidFill>
              </a:rPr>
              <a:t>const</a:t>
            </a:r>
            <a:r>
              <a:rPr lang="es-ES" b="1" dirty="0" smtClean="0">
                <a:solidFill>
                  <a:schemeClr val="bg1"/>
                </a:solidFill>
              </a:rPr>
              <a:t> auto &amp;ele : </a:t>
            </a:r>
            <a:r>
              <a:rPr lang="es-ES" b="1" dirty="0" err="1" smtClean="0">
                <a:solidFill>
                  <a:schemeClr val="bg1"/>
                </a:solidFill>
              </a:rPr>
              <a:t>dq</a:t>
            </a:r>
            <a:r>
              <a:rPr lang="es-ES" b="1" dirty="0" smtClean="0">
                <a:solidFill>
                  <a:schemeClr val="bg1"/>
                </a:solidFill>
              </a:rPr>
              <a:t>)</a:t>
            </a:r>
          </a:p>
          <a:p>
            <a:pPr lvl="2"/>
            <a:r>
              <a:rPr lang="es-ES" b="1" dirty="0" smtClean="0">
                <a:solidFill>
                  <a:schemeClr val="bg1"/>
                </a:solidFill>
              </a:rPr>
              <a:t>    {</a:t>
            </a:r>
          </a:p>
          <a:p>
            <a:pPr lvl="2"/>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cout</a:t>
            </a:r>
            <a:r>
              <a:rPr lang="es-ES" b="1" dirty="0" smtClean="0">
                <a:solidFill>
                  <a:schemeClr val="bg1"/>
                </a:solidFill>
              </a:rPr>
              <a:t> &lt;&lt; ele &lt;&lt; ' ';</a:t>
            </a:r>
          </a:p>
          <a:p>
            <a:pPr lvl="2"/>
            <a:r>
              <a:rPr lang="es-ES" b="1" dirty="0" smtClean="0">
                <a:solidFill>
                  <a:schemeClr val="bg1"/>
                </a:solidFill>
              </a:rPr>
              <a:t>    }</a:t>
            </a:r>
          </a:p>
          <a:p>
            <a:pPr lvl="2"/>
            <a:r>
              <a:rPr lang="es-ES" b="1" dirty="0" smtClean="0">
                <a:solidFill>
                  <a:schemeClr val="bg1"/>
                </a:solidFill>
              </a:rPr>
              <a: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cout</a:t>
            </a:r>
            <a:r>
              <a:rPr lang="es-ES" b="1" dirty="0" smtClean="0">
                <a:solidFill>
                  <a:schemeClr val="bg1"/>
                </a:solidFill>
              </a:rPr>
              <a:t> &lt;&lt; </a:t>
            </a:r>
            <a:r>
              <a:rPr lang="es-ES" b="1" dirty="0" err="1" smtClean="0">
                <a:solidFill>
                  <a:schemeClr val="bg1"/>
                </a:solidFill>
              </a:rPr>
              <a:t>std</a:t>
            </a:r>
            <a:r>
              <a:rPr lang="es-ES" b="1" dirty="0" smtClean="0">
                <a:solidFill>
                  <a:schemeClr val="bg1"/>
                </a:solidFill>
              </a:rPr>
              <a:t>::</a:t>
            </a:r>
            <a:r>
              <a:rPr lang="es-ES" b="1" dirty="0" err="1" smtClean="0">
                <a:solidFill>
                  <a:schemeClr val="bg1"/>
                </a:solidFill>
              </a:rPr>
              <a:t>endl</a:t>
            </a:r>
            <a:r>
              <a:rPr lang="es-ES" b="1" dirty="0" smtClean="0">
                <a:solidFill>
                  <a:schemeClr val="bg1"/>
                </a:solidFill>
              </a:rPr>
              <a:t>;</a:t>
            </a:r>
          </a:p>
          <a:p>
            <a:pPr lvl="2"/>
            <a:r>
              <a:rPr lang="es-ES" b="1" dirty="0" smtClean="0">
                <a:solidFill>
                  <a:schemeClr val="bg1"/>
                </a:solidFill>
              </a:rPr>
              <a:t>}</a:t>
            </a:r>
          </a:p>
        </p:txBody>
      </p:sp>
      <p:pic>
        <p:nvPicPr>
          <p:cNvPr id="5" name="Picture 4"/>
          <p:cNvPicPr>
            <a:picLocks noChangeAspect="1"/>
          </p:cNvPicPr>
          <p:nvPr/>
        </p:nvPicPr>
        <p:blipFill>
          <a:blip r:embed="rId2"/>
          <a:stretch>
            <a:fillRect/>
          </a:stretch>
        </p:blipFill>
        <p:spPr>
          <a:xfrm>
            <a:off x="402086" y="3026653"/>
            <a:ext cx="5514091" cy="3110195"/>
          </a:xfrm>
          <a:prstGeom prst="rect">
            <a:avLst/>
          </a:prstGeom>
        </p:spPr>
      </p:pic>
      <p:sp>
        <p:nvSpPr>
          <p:cNvPr id="4" name="Rectangle 3"/>
          <p:cNvSpPr/>
          <p:nvPr/>
        </p:nvSpPr>
        <p:spPr>
          <a:xfrm>
            <a:off x="62931" y="6312481"/>
            <a:ext cx="6595044" cy="646331"/>
          </a:xfrm>
          <a:prstGeom prst="rect">
            <a:avLst/>
          </a:prstGeom>
        </p:spPr>
        <p:txBody>
          <a:bodyPr wrap="square">
            <a:spAutoFit/>
          </a:bodyPr>
          <a:lstStyle/>
          <a:p>
            <a:r>
              <a:rPr lang="es-UY" dirty="0">
                <a:solidFill>
                  <a:schemeClr val="bg1"/>
                </a:solidFill>
                <a:hlinkClick r:id="rId3"/>
              </a:rPr>
              <a:t>https://</a:t>
            </a:r>
            <a:r>
              <a:rPr lang="es-UY" dirty="0" smtClean="0">
                <a:solidFill>
                  <a:schemeClr val="bg1"/>
                </a:solidFill>
                <a:hlinkClick r:id="rId3"/>
              </a:rPr>
              <a:t>en.cppreference.com/w/cpp/container/deque</a:t>
            </a:r>
            <a:endParaRPr lang="es-UY" dirty="0" smtClean="0">
              <a:solidFill>
                <a:schemeClr val="bg1"/>
              </a:solidFill>
            </a:endParaRPr>
          </a:p>
          <a:p>
            <a:endParaRPr lang="es-UY" dirty="0">
              <a:solidFill>
                <a:schemeClr val="bg1"/>
              </a:solidFill>
            </a:endParaRPr>
          </a:p>
        </p:txBody>
      </p:sp>
      <p:sp>
        <p:nvSpPr>
          <p:cNvPr id="6" name="4 Marcador de pie de página"/>
          <p:cNvSpPr>
            <a:spLocks noGrp="1"/>
          </p:cNvSpPr>
          <p:nvPr>
            <p:ph type="ftr" sz="quarter" idx="11"/>
          </p:nvPr>
        </p:nvSpPr>
        <p:spPr bwMode="auto">
          <a:xfrm>
            <a:off x="76390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17830127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131976" y="226244"/>
            <a:ext cx="4420404" cy="4920792"/>
          </a:xfrm>
        </p:spPr>
        <p:txBody>
          <a:bodyPr>
            <a:normAutofit/>
          </a:bodyPr>
          <a:lstStyle/>
          <a:p>
            <a:pPr marL="0" indent="0">
              <a:buNone/>
            </a:pPr>
            <a:r>
              <a:rPr lang="es-UY" sz="2400" b="1" dirty="0" err="1"/>
              <a:t>std</a:t>
            </a:r>
            <a:r>
              <a:rPr lang="es-UY" sz="2400" b="1" dirty="0" smtClean="0"/>
              <a:t>::</a:t>
            </a:r>
            <a:r>
              <a:rPr lang="es-UY" sz="2400" b="1" dirty="0" err="1" smtClean="0"/>
              <a:t>map</a:t>
            </a:r>
            <a:endParaRPr lang="es-UY" sz="2400" b="1" dirty="0"/>
          </a:p>
          <a:p>
            <a:pPr marL="0" indent="0">
              <a:buNone/>
            </a:pPr>
            <a:endParaRPr lang="es-ES" dirty="0" smtClean="0"/>
          </a:p>
          <a:p>
            <a:pPr marL="0" indent="0">
              <a:buNone/>
            </a:pPr>
            <a:r>
              <a:rPr lang="es-ES" dirty="0"/>
              <a:t>Un mapa contiene elementos que son pares clave/valor. Cada elemento tiene una clave que es la base para el criterio de clasificación y un valor. Cada clave puede aparecer solo una vez, por lo que no se permiten claves duplicadas. Un mapa también se puede usar como una matriz asociativa, que es una matriz que tiene un tipo de índice arbitrario</a:t>
            </a:r>
            <a:r>
              <a:rPr lang="es-ES" dirty="0" smtClean="0"/>
              <a:t>.</a:t>
            </a:r>
          </a:p>
          <a:p>
            <a:endParaRPr lang="es-ES" dirty="0" smtClean="0"/>
          </a:p>
        </p:txBody>
      </p:sp>
      <p:sp>
        <p:nvSpPr>
          <p:cNvPr id="4" name="Rectangle 3"/>
          <p:cNvSpPr/>
          <p:nvPr/>
        </p:nvSpPr>
        <p:spPr>
          <a:xfrm>
            <a:off x="4552380" y="67944"/>
            <a:ext cx="12056882" cy="6694140"/>
          </a:xfrm>
          <a:prstGeom prst="rect">
            <a:avLst/>
          </a:prstGeom>
        </p:spPr>
        <p:txBody>
          <a:bodyPr wrap="square">
            <a:spAutoFit/>
          </a:bodyPr>
          <a:lstStyle/>
          <a:p>
            <a:r>
              <a:rPr lang="en-US" sz="1300" b="1" dirty="0" smtClean="0">
                <a:solidFill>
                  <a:schemeClr val="bg1"/>
                </a:solidFill>
              </a:rPr>
              <a:t>#include &lt;</a:t>
            </a:r>
            <a:r>
              <a:rPr lang="en-US" sz="1300" b="1" dirty="0" err="1" smtClean="0">
                <a:solidFill>
                  <a:schemeClr val="bg1"/>
                </a:solidFill>
              </a:rPr>
              <a:t>iostream</a:t>
            </a:r>
            <a:r>
              <a:rPr lang="en-US" sz="1300" b="1" dirty="0" smtClean="0">
                <a:solidFill>
                  <a:schemeClr val="bg1"/>
                </a:solidFill>
              </a:rPr>
              <a:t>&gt;</a:t>
            </a:r>
          </a:p>
          <a:p>
            <a:r>
              <a:rPr lang="en-US" sz="1300" b="1" dirty="0" smtClean="0">
                <a:solidFill>
                  <a:schemeClr val="bg1"/>
                </a:solidFill>
              </a:rPr>
              <a:t>#include &lt;map&gt;</a:t>
            </a:r>
          </a:p>
          <a:p>
            <a:r>
              <a:rPr lang="en-US" sz="1300" b="1" dirty="0" smtClean="0">
                <a:solidFill>
                  <a:schemeClr val="bg1"/>
                </a:solidFill>
              </a:rPr>
              <a:t>#include &lt;string&gt;</a:t>
            </a:r>
          </a:p>
          <a:p>
            <a:endParaRPr lang="en-US" sz="1300" b="1" dirty="0" smtClean="0">
              <a:solidFill>
                <a:schemeClr val="bg1"/>
              </a:solidFill>
            </a:endParaRPr>
          </a:p>
          <a:p>
            <a:r>
              <a:rPr lang="en-US" sz="1300" b="1" dirty="0" err="1" smtClean="0">
                <a:solidFill>
                  <a:schemeClr val="bg1"/>
                </a:solidFill>
              </a:rPr>
              <a:t>int</a:t>
            </a:r>
            <a:r>
              <a:rPr lang="en-US" sz="1300" b="1" dirty="0" smtClean="0">
                <a:solidFill>
                  <a:schemeClr val="bg1"/>
                </a:solidFill>
              </a:rPr>
              <a:t> main()</a:t>
            </a:r>
          </a:p>
          <a:p>
            <a:r>
              <a:rPr lang="en-US" sz="1300" b="1" dirty="0" smtClean="0">
                <a:solidFill>
                  <a:schemeClr val="bg1"/>
                </a:solidFill>
              </a:rPr>
              <a:t>{</a:t>
            </a:r>
          </a:p>
          <a:p>
            <a:endParaRPr lang="en-US" sz="1300" b="1" dirty="0" smtClean="0">
              <a:solidFill>
                <a:schemeClr val="bg1"/>
              </a:solidFill>
            </a:endParaRPr>
          </a:p>
          <a:p>
            <a:r>
              <a:rPr lang="en-US" sz="1300" b="1" dirty="0" smtClean="0">
                <a:solidFill>
                  <a:schemeClr val="bg1"/>
                </a:solidFill>
              </a:rPr>
              <a:t>    </a:t>
            </a:r>
            <a:r>
              <a:rPr lang="en-US" sz="1300" b="1" dirty="0" err="1" smtClean="0">
                <a:solidFill>
                  <a:schemeClr val="bg1"/>
                </a:solidFill>
              </a:rPr>
              <a:t>std</a:t>
            </a:r>
            <a:r>
              <a:rPr lang="en-US" sz="1300" b="1" dirty="0" smtClean="0">
                <a:solidFill>
                  <a:schemeClr val="bg1"/>
                </a:solidFill>
              </a:rPr>
              <a:t>::map&lt;</a:t>
            </a:r>
            <a:r>
              <a:rPr lang="en-US" sz="1300" b="1" dirty="0" err="1" smtClean="0">
                <a:solidFill>
                  <a:schemeClr val="bg1"/>
                </a:solidFill>
              </a:rPr>
              <a:t>int</a:t>
            </a:r>
            <a:r>
              <a:rPr lang="en-US" sz="1300" b="1" dirty="0" smtClean="0">
                <a:solidFill>
                  <a:schemeClr val="bg1"/>
                </a:solidFill>
              </a:rPr>
              <a:t>, </a:t>
            </a:r>
            <a:r>
              <a:rPr lang="en-US" sz="1300" b="1" dirty="0" err="1" smtClean="0">
                <a:solidFill>
                  <a:schemeClr val="bg1"/>
                </a:solidFill>
              </a:rPr>
              <a:t>std</a:t>
            </a:r>
            <a:r>
              <a:rPr lang="en-US" sz="1300" b="1" dirty="0" smtClean="0">
                <a:solidFill>
                  <a:schemeClr val="bg1"/>
                </a:solidFill>
              </a:rPr>
              <a:t>::string&gt; </a:t>
            </a:r>
            <a:r>
              <a:rPr lang="en-US" sz="1300" b="1" dirty="0" err="1" smtClean="0">
                <a:solidFill>
                  <a:schemeClr val="bg1"/>
                </a:solidFill>
              </a:rPr>
              <a:t>mp</a:t>
            </a:r>
            <a:r>
              <a:rPr lang="en-US" sz="1300" b="1" dirty="0" smtClean="0">
                <a:solidFill>
                  <a:schemeClr val="bg1"/>
                </a:solidFill>
              </a:rPr>
              <a:t>; //set container for </a:t>
            </a:r>
            <a:r>
              <a:rPr lang="en-US" sz="1300" b="1" dirty="0" err="1" smtClean="0">
                <a:solidFill>
                  <a:schemeClr val="bg1"/>
                </a:solidFill>
              </a:rPr>
              <a:t>int</a:t>
            </a:r>
            <a:r>
              <a:rPr lang="en-US" sz="1300" b="1" dirty="0" smtClean="0">
                <a:solidFill>
                  <a:schemeClr val="bg1"/>
                </a:solidFill>
              </a:rPr>
              <a:t>/string values</a:t>
            </a:r>
          </a:p>
          <a:p>
            <a:endParaRPr lang="en-US" sz="1300" b="1" dirty="0" smtClean="0">
              <a:solidFill>
                <a:schemeClr val="bg1"/>
              </a:solidFill>
            </a:endParaRPr>
          </a:p>
          <a:p>
            <a:r>
              <a:rPr lang="en-US" sz="1300" b="1" dirty="0" smtClean="0">
                <a:solidFill>
                  <a:schemeClr val="bg1"/>
                </a:solidFill>
              </a:rPr>
              <a:t>    //insert some elements in arbitrary order</a:t>
            </a:r>
          </a:p>
          <a:p>
            <a:r>
              <a:rPr lang="en-US" sz="1300" b="1" dirty="0" smtClean="0">
                <a:solidFill>
                  <a:schemeClr val="bg1"/>
                </a:solidFill>
              </a:rPr>
              <a:t>    // a value with key 1 gets inserted twice</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(5, "map")); </a:t>
            </a:r>
          </a:p>
          <a:p>
            <a:endParaRPr lang="en-US" sz="1300" b="1" dirty="0" smtClean="0">
              <a:solidFill>
                <a:schemeClr val="bg1"/>
              </a:solidFill>
            </a:endParaRPr>
          </a:p>
          <a:p>
            <a:r>
              <a:rPr lang="en-US" sz="1300" b="1" dirty="0" smtClean="0">
                <a:solidFill>
                  <a:schemeClr val="bg1"/>
                </a:solidFill>
              </a:rPr>
              <a:t>    /** </a:t>
            </a:r>
          </a:p>
          <a:p>
            <a:r>
              <a:rPr lang="en-US" sz="1300" b="1" dirty="0" smtClean="0">
                <a:solidFill>
                  <a:schemeClr val="bg1"/>
                </a:solidFill>
              </a:rPr>
              <a:t>     *  The  elements are key/value pairs, so you must create such a pair to insert it into the</a:t>
            </a:r>
          </a:p>
          <a:p>
            <a:r>
              <a:rPr lang="en-US" sz="1300" b="1" dirty="0" smtClean="0">
                <a:solidFill>
                  <a:schemeClr val="bg1"/>
                </a:solidFill>
              </a:rPr>
              <a:t>     *  collection. The auxiliary function </a:t>
            </a:r>
            <a:r>
              <a:rPr lang="en-US" sz="1300" b="1" dirty="0" err="1" smtClean="0">
                <a:solidFill>
                  <a:schemeClr val="bg1"/>
                </a:solidFill>
              </a:rPr>
              <a:t>make_pair</a:t>
            </a:r>
            <a:r>
              <a:rPr lang="en-US" sz="1300" b="1" dirty="0" smtClean="0">
                <a:solidFill>
                  <a:schemeClr val="bg1"/>
                </a:solidFill>
              </a:rPr>
              <a:t>() is provided for this purpose.</a:t>
            </a:r>
          </a:p>
          <a:p>
            <a:r>
              <a:rPr lang="en-US" sz="1300" b="1" dirty="0" smtClean="0">
                <a:solidFill>
                  <a:schemeClr val="bg1"/>
                </a:solidFill>
              </a:rPr>
              <a:t>     */</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(2, "is a"));</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(1, "sorted"));</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(4, "associative"));</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(6, "container"));</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(1, "key"));</a:t>
            </a:r>
          </a:p>
          <a:p>
            <a:r>
              <a:rPr lang="en-US" sz="1300" b="1" dirty="0" smtClean="0">
                <a:solidFill>
                  <a:schemeClr val="bg1"/>
                </a:solidFill>
              </a:rPr>
              <a:t>    </a:t>
            </a:r>
            <a:r>
              <a:rPr lang="en-US" sz="1300" b="1" dirty="0" err="1" smtClean="0">
                <a:solidFill>
                  <a:schemeClr val="bg1"/>
                </a:solidFill>
              </a:rPr>
              <a:t>mp.insert</a:t>
            </a:r>
            <a:r>
              <a:rPr lang="en-US" sz="1300" b="1" dirty="0" smtClean="0">
                <a:solidFill>
                  <a:schemeClr val="bg1"/>
                </a:solidFill>
              </a:rPr>
              <a:t>(</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make_pair</a:t>
            </a:r>
            <a:r>
              <a:rPr lang="en-US" sz="1300" b="1" dirty="0" smtClean="0">
                <a:solidFill>
                  <a:schemeClr val="bg1"/>
                </a:solidFill>
              </a:rPr>
              <a:t>(3, "value"));</a:t>
            </a:r>
          </a:p>
          <a:p>
            <a:endParaRPr lang="en-US" sz="1300" b="1" dirty="0" smtClean="0">
              <a:solidFill>
                <a:schemeClr val="bg1"/>
              </a:solidFill>
            </a:endParaRPr>
          </a:p>
          <a:p>
            <a:r>
              <a:rPr lang="en-US" sz="1300" b="1" dirty="0" smtClean="0">
                <a:solidFill>
                  <a:schemeClr val="bg1"/>
                </a:solidFill>
              </a:rPr>
              <a:t>    // print key value pairs</a:t>
            </a:r>
          </a:p>
          <a:p>
            <a:r>
              <a:rPr lang="en-US" sz="1300" b="1" dirty="0" smtClean="0">
                <a:solidFill>
                  <a:schemeClr val="bg1"/>
                </a:solidFill>
              </a:rPr>
              <a:t>    for (</a:t>
            </a:r>
            <a:r>
              <a:rPr lang="en-US" sz="1300" b="1" dirty="0" err="1" smtClean="0">
                <a:solidFill>
                  <a:schemeClr val="bg1"/>
                </a:solidFill>
              </a:rPr>
              <a:t>const</a:t>
            </a:r>
            <a:r>
              <a:rPr lang="en-US" sz="1300" b="1" dirty="0" smtClean="0">
                <a:solidFill>
                  <a:schemeClr val="bg1"/>
                </a:solidFill>
              </a:rPr>
              <a:t> auto &amp;</a:t>
            </a:r>
            <a:r>
              <a:rPr lang="en-US" sz="1300" b="1" dirty="0" err="1" smtClean="0">
                <a:solidFill>
                  <a:schemeClr val="bg1"/>
                </a:solidFill>
              </a:rPr>
              <a:t>ele</a:t>
            </a:r>
            <a:r>
              <a:rPr lang="en-US" sz="1300" b="1" dirty="0" smtClean="0">
                <a:solidFill>
                  <a:schemeClr val="bg1"/>
                </a:solidFill>
              </a:rPr>
              <a:t> : </a:t>
            </a:r>
            <a:r>
              <a:rPr lang="en-US" sz="1300" b="1" dirty="0" err="1" smtClean="0">
                <a:solidFill>
                  <a:schemeClr val="bg1"/>
                </a:solidFill>
              </a:rPr>
              <a:t>mp</a:t>
            </a:r>
            <a:r>
              <a:rPr lang="en-US" sz="1300" b="1" dirty="0" smtClean="0">
                <a:solidFill>
                  <a:schemeClr val="bg1"/>
                </a:solidFill>
              </a:rPr>
              <a:t>)</a:t>
            </a:r>
          </a:p>
          <a:p>
            <a:r>
              <a:rPr lang="en-US" sz="1300" b="1" dirty="0" smtClean="0">
                <a:solidFill>
                  <a:schemeClr val="bg1"/>
                </a:solidFill>
              </a:rPr>
              <a:t>    {</a:t>
            </a:r>
          </a:p>
          <a:p>
            <a:r>
              <a:rPr lang="en-US" sz="1300" b="1" dirty="0" smtClean="0">
                <a:solidFill>
                  <a:schemeClr val="bg1"/>
                </a:solidFill>
              </a:rPr>
              <a:t>        /**</a:t>
            </a:r>
          </a:p>
          <a:p>
            <a:r>
              <a:rPr lang="en-US" sz="1300" b="1" dirty="0" smtClean="0">
                <a:solidFill>
                  <a:schemeClr val="bg1"/>
                </a:solidFill>
              </a:rPr>
              <a:t>         * you must access the members of the pair structure, which are called first and second</a:t>
            </a:r>
          </a:p>
          <a:p>
            <a:r>
              <a:rPr lang="en-US" sz="1300" b="1" dirty="0" smtClean="0">
                <a:solidFill>
                  <a:schemeClr val="bg1"/>
                </a:solidFill>
              </a:rPr>
              <a:t>         */</a:t>
            </a:r>
          </a:p>
          <a:p>
            <a:r>
              <a:rPr lang="en-US" sz="1300" b="1" dirty="0" smtClean="0">
                <a:solidFill>
                  <a:schemeClr val="bg1"/>
                </a:solidFill>
              </a:rPr>
              <a:t>        </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cout</a:t>
            </a:r>
            <a:r>
              <a:rPr lang="en-US" sz="1300" b="1" dirty="0" smtClean="0">
                <a:solidFill>
                  <a:schemeClr val="bg1"/>
                </a:solidFill>
              </a:rPr>
              <a:t> &lt;&lt; </a:t>
            </a:r>
            <a:r>
              <a:rPr lang="en-US" sz="1300" b="1" dirty="0" err="1" smtClean="0">
                <a:solidFill>
                  <a:schemeClr val="bg1"/>
                </a:solidFill>
              </a:rPr>
              <a:t>ele.first</a:t>
            </a:r>
            <a:r>
              <a:rPr lang="en-US" sz="1300" b="1" dirty="0" smtClean="0">
                <a:solidFill>
                  <a:schemeClr val="bg1"/>
                </a:solidFill>
              </a:rPr>
              <a:t> &lt;&lt; " : " &lt;&lt; </a:t>
            </a:r>
            <a:r>
              <a:rPr lang="en-US" sz="1300" b="1" dirty="0" err="1" smtClean="0">
                <a:solidFill>
                  <a:schemeClr val="bg1"/>
                </a:solidFill>
              </a:rPr>
              <a:t>ele.second</a:t>
            </a:r>
            <a:r>
              <a:rPr lang="en-US" sz="1300" b="1" dirty="0" smtClean="0">
                <a:solidFill>
                  <a:schemeClr val="bg1"/>
                </a:solidFill>
              </a:rPr>
              <a:t> &lt;&lt; </a:t>
            </a:r>
            <a:r>
              <a:rPr lang="en-US" sz="1300" b="1" dirty="0" err="1" smtClean="0">
                <a:solidFill>
                  <a:schemeClr val="bg1"/>
                </a:solidFill>
              </a:rPr>
              <a:t>std</a:t>
            </a:r>
            <a:r>
              <a:rPr lang="en-US" sz="1300" b="1" dirty="0" smtClean="0">
                <a:solidFill>
                  <a:schemeClr val="bg1"/>
                </a:solidFill>
              </a:rPr>
              <a:t>::</a:t>
            </a:r>
            <a:r>
              <a:rPr lang="en-US" sz="1300" b="1" dirty="0" err="1" smtClean="0">
                <a:solidFill>
                  <a:schemeClr val="bg1"/>
                </a:solidFill>
              </a:rPr>
              <a:t>endl</a:t>
            </a:r>
            <a:r>
              <a:rPr lang="en-US" sz="1300" b="1" dirty="0" smtClean="0">
                <a:solidFill>
                  <a:schemeClr val="bg1"/>
                </a:solidFill>
              </a:rPr>
              <a:t>;  </a:t>
            </a:r>
          </a:p>
          <a:p>
            <a:r>
              <a:rPr lang="en-US" sz="1300" b="1" dirty="0" smtClean="0">
                <a:solidFill>
                  <a:schemeClr val="bg1"/>
                </a:solidFill>
              </a:rPr>
              <a:t>    }</a:t>
            </a:r>
          </a:p>
          <a:p>
            <a:r>
              <a:rPr lang="en-US" sz="1300" b="1" dirty="0" smtClean="0">
                <a:solidFill>
                  <a:schemeClr val="bg1"/>
                </a:solidFill>
              </a:rPr>
              <a:t>}</a:t>
            </a:r>
            <a:endParaRPr lang="es-UY" sz="1300" b="1" dirty="0">
              <a:solidFill>
                <a:schemeClr val="bg1"/>
              </a:solidFill>
            </a:endParaRPr>
          </a:p>
        </p:txBody>
      </p:sp>
      <p:pic>
        <p:nvPicPr>
          <p:cNvPr id="5" name="Picture 4"/>
          <p:cNvPicPr>
            <a:picLocks noChangeAspect="1"/>
          </p:cNvPicPr>
          <p:nvPr/>
        </p:nvPicPr>
        <p:blipFill>
          <a:blip r:embed="rId2"/>
          <a:stretch>
            <a:fillRect/>
          </a:stretch>
        </p:blipFill>
        <p:spPr>
          <a:xfrm>
            <a:off x="670625" y="4829380"/>
            <a:ext cx="3143652" cy="1932704"/>
          </a:xfrm>
          <a:prstGeom prst="rect">
            <a:avLst/>
          </a:prstGeom>
        </p:spPr>
      </p:pic>
      <p:sp>
        <p:nvSpPr>
          <p:cNvPr id="3" name="Rectangle 2"/>
          <p:cNvSpPr/>
          <p:nvPr/>
        </p:nvSpPr>
        <p:spPr>
          <a:xfrm>
            <a:off x="6000749" y="6438918"/>
            <a:ext cx="6848475" cy="646331"/>
          </a:xfrm>
          <a:prstGeom prst="rect">
            <a:avLst/>
          </a:prstGeom>
        </p:spPr>
        <p:txBody>
          <a:bodyPr wrap="square">
            <a:spAutoFit/>
          </a:bodyPr>
          <a:lstStyle/>
          <a:p>
            <a:r>
              <a:rPr lang="es-UY" dirty="0">
                <a:solidFill>
                  <a:schemeClr val="bg1"/>
                </a:solidFill>
                <a:hlinkClick r:id="rId3"/>
              </a:rPr>
              <a:t>https://</a:t>
            </a:r>
            <a:r>
              <a:rPr lang="es-UY" dirty="0" smtClean="0">
                <a:solidFill>
                  <a:schemeClr val="bg1"/>
                </a:solidFill>
                <a:hlinkClick r:id="rId3"/>
              </a:rPr>
              <a:t>en.cppreference.com/w/cpp/container/map</a:t>
            </a:r>
            <a:endParaRPr lang="es-UY" dirty="0" smtClean="0">
              <a:solidFill>
                <a:schemeClr val="bg1"/>
              </a:solidFill>
            </a:endParaRPr>
          </a:p>
          <a:p>
            <a:endParaRPr lang="es-UY" dirty="0">
              <a:solidFill>
                <a:schemeClr val="bg1"/>
              </a:solidFill>
            </a:endParaRPr>
          </a:p>
        </p:txBody>
      </p:sp>
    </p:spTree>
    <p:extLst>
      <p:ext uri="{BB962C8B-B14F-4D97-AF65-F5344CB8AC3E}">
        <p14:creationId xmlns:p14="http://schemas.microsoft.com/office/powerpoint/2010/main" val="36994126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tx2">
                <a:lumMod val="40000"/>
                <a:lumOff val="60000"/>
              </a:schemeClr>
            </a:gs>
            <a:gs pos="100000">
              <a:schemeClr val="tx2">
                <a:lumMod val="20000"/>
                <a:lumOff val="80000"/>
              </a:schemeClr>
            </a:gs>
          </a:gsLst>
          <a:lin ang="612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617537" y="2047875"/>
            <a:ext cx="8534400" cy="3615267"/>
          </a:xfrm>
        </p:spPr>
        <p:txBody>
          <a:bodyPr/>
          <a:lstStyle/>
          <a:p>
            <a:r>
              <a:rPr lang="es-ES" dirty="0" smtClean="0">
                <a:hlinkClick r:id="rId2"/>
              </a:rPr>
              <a:t>Links Extras</a:t>
            </a:r>
            <a:endParaRPr lang="es-UY" dirty="0" smtClean="0">
              <a:hlinkClick r:id="rId2"/>
            </a:endParaRPr>
          </a:p>
          <a:p>
            <a:endParaRPr lang="es-UY" dirty="0">
              <a:hlinkClick r:id="rId2"/>
            </a:endParaRPr>
          </a:p>
          <a:p>
            <a:r>
              <a:rPr lang="es-UY" dirty="0" smtClean="0">
                <a:hlinkClick r:id="rId2"/>
              </a:rPr>
              <a:t>https</a:t>
            </a:r>
            <a:r>
              <a:rPr lang="es-UY" dirty="0">
                <a:hlinkClick r:id="rId2"/>
              </a:rPr>
              <a:t>://www.geeksforgeeks.org/important-functions-of-stl-components-in-c</a:t>
            </a:r>
            <a:r>
              <a:rPr lang="es-UY" dirty="0" smtClean="0">
                <a:hlinkClick r:id="rId2"/>
              </a:rPr>
              <a:t>/</a:t>
            </a:r>
            <a:endParaRPr lang="es-UY" dirty="0" smtClean="0"/>
          </a:p>
          <a:p>
            <a:endParaRPr lang="es-ES" dirty="0"/>
          </a:p>
          <a:p>
            <a:r>
              <a:rPr lang="es-UY" dirty="0">
                <a:solidFill>
                  <a:schemeClr val="bg1"/>
                </a:solidFill>
                <a:hlinkClick r:id="rId3"/>
              </a:rPr>
              <a:t>https://</a:t>
            </a:r>
            <a:r>
              <a:rPr lang="es-UY" dirty="0" smtClean="0">
                <a:solidFill>
                  <a:schemeClr val="bg1"/>
                </a:solidFill>
                <a:hlinkClick r:id="rId3"/>
              </a:rPr>
              <a:t>dev.to/pratikparvati/c-stl-containers-choose-your-containers-wisely-4lc4</a:t>
            </a:r>
            <a:endParaRPr lang="es-UY" dirty="0" smtClean="0">
              <a:solidFill>
                <a:schemeClr val="bg1"/>
              </a:solidFill>
            </a:endParaRPr>
          </a:p>
          <a:p>
            <a:endParaRPr lang="es-UY" dirty="0">
              <a:solidFill>
                <a:schemeClr val="bg1"/>
              </a:solidFill>
            </a:endParaRPr>
          </a:p>
          <a:p>
            <a:endParaRPr lang="es-UY" dirty="0" smtClean="0"/>
          </a:p>
          <a:p>
            <a:endParaRPr lang="es-UY" dirty="0"/>
          </a:p>
        </p:txBody>
      </p:sp>
      <p:sp>
        <p:nvSpPr>
          <p:cNvPr id="7" name="4 Marcador de pie de página"/>
          <p:cNvSpPr>
            <a:spLocks noGrp="1"/>
          </p:cNvSpPr>
          <p:nvPr>
            <p:ph type="ftr" sz="quarter" idx="11"/>
          </p:nvPr>
        </p:nvSpPr>
        <p:spPr bwMode="auto">
          <a:xfrm>
            <a:off x="4857750" y="6492875"/>
            <a:ext cx="1933575" cy="365125"/>
          </a:xfrm>
          <a:noFill/>
          <a:ln>
            <a:miter lim="800000"/>
            <a:headEnd/>
            <a:tailEnd/>
          </a:ln>
        </p:spPr>
        <p:txBody>
          <a:bodyPr wrap="square" lIns="91440" tIns="45720" rIns="91440" bIns="45720" numCol="1" anchor="t" anchorCtr="0" compatLnSpc="1">
            <a:prstTxWarp prst="textNoShape">
              <a:avLst/>
            </a:prstTxWarp>
          </a:bodyPr>
          <a:lstStyle/>
          <a:p>
            <a:r>
              <a:rPr lang="es-ES" dirty="0" smtClean="0">
                <a:solidFill>
                  <a:schemeClr val="bg1"/>
                </a:solidFill>
              </a:rPr>
              <a:t>2023 </a:t>
            </a:r>
            <a:r>
              <a:rPr lang="es-ES" dirty="0">
                <a:solidFill>
                  <a:schemeClr val="bg1"/>
                </a:solidFill>
              </a:rPr>
              <a:t>- Ing. Fresno Gustavo</a:t>
            </a:r>
          </a:p>
        </p:txBody>
      </p:sp>
    </p:spTree>
    <p:extLst>
      <p:ext uri="{BB962C8B-B14F-4D97-AF65-F5344CB8AC3E}">
        <p14:creationId xmlns:p14="http://schemas.microsoft.com/office/powerpoint/2010/main" val="3702628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1587</TotalTime>
  <Words>952</Words>
  <Application>Microsoft Office PowerPoint</Application>
  <PresentationFormat>Widescreen</PresentationFormat>
  <Paragraphs>189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Century Gothic</vt:lpstr>
      <vt:lpstr>Nunito</vt:lpstr>
      <vt:lpstr>Wingdings 3</vt:lpstr>
      <vt:lpstr>Slice</vt:lpstr>
      <vt:lpstr>Modern 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C++</dc:title>
  <dc:creator>Gustavo Fresno</dc:creator>
  <cp:lastModifiedBy>Gustavo Fresno</cp:lastModifiedBy>
  <cp:revision>12</cp:revision>
  <cp:lastPrinted>2023-04-11T13:42:16Z</cp:lastPrinted>
  <dcterms:created xsi:type="dcterms:W3CDTF">2023-04-10T15:04:35Z</dcterms:created>
  <dcterms:modified xsi:type="dcterms:W3CDTF">2023-04-12T02:16:22Z</dcterms:modified>
</cp:coreProperties>
</file>